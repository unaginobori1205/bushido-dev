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初回ご挨拶。中村公一様からのご紹介である旨を最初に伝える。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弓道の実践者であること、事業が思想に根ざしていることを伝える。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3つの柱：道／生／守。永野一翠工房での学びが土台。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会社の基本情報。販売チャネルの信頼性（日本旅行との連携）を補足。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弓道が旗艦。他は名古屋の地域資源と組み合わせて展開中。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旗艦商品。実際に弓を引く点が他社との差別化。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設立3年で日本旅行との連携まで到達。地域資源との掛け合わせが今後の軸。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事業の倫理観。ここが共感いただけるかどうかが、良いご縁の分かれ目。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押し売りにしない。あくまで「可能性のご相談」として提示する。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連絡先。メール・サイトともに正確か送付前に確認すること。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user/bushido-dev/deck/assets/enso-lg.png">    </p:cNvPr>
          <p:cNvPicPr>
            <a:picLocks noChangeAspect="1"/>
          </p:cNvPicPr>
          <p:nvPr/>
        </p:nvPicPr>
        <p:blipFill>
          <a:blip r:embed="rId2"/>
          <a:stretch>
            <a:fillRect/>
          </a:stretch>
        </p:blipFill>
        <p:spPr>
          <a:xfrm>
            <a:off x="6720840" y="292608"/>
            <a:ext cx="5806440" cy="5806440"/>
          </a:xfrm>
          <a:prstGeom prst="rect">
            <a:avLst/>
          </a:prstGeom>
        </p:spPr>
      </p:pic>
      <p:sp>
        <p:nvSpPr>
          <p:cNvPr id="3" name="Text 0"/>
          <p:cNvSpPr txBox="1"/>
          <p:nvPr/>
        </p:nvSpPr>
        <p:spPr>
          <a:xfrm>
            <a:off x="685800" y="1170432"/>
            <a:ext cx="6858000" cy="292608"/>
          </a:xfrm>
          <a:prstGeom prst="rect">
            <a:avLst/>
          </a:prstGeom>
          <a:noFill/>
          <a:ln/>
        </p:spPr>
        <p:txBody>
          <a:bodyPr wrap="square" lIns="0" tIns="0" rIns="0" bIns="0" rtlCol="0" anchor="ctr"/>
          <a:lstStyle/>
          <a:p>
            <a:pPr indent="0" marL="0">
              <a:buNone/>
            </a:pPr>
            <a:r>
              <a:rPr lang="en-US" sz="1300" dirty="0">
                <a:solidFill>
                  <a:srgbClr val="A29B8E"/>
                </a:solidFill>
                <a:latin typeface="Yu Gothic" pitchFamily="34" charset="0"/>
                <a:ea typeface="Yu Gothic" pitchFamily="34" charset="-122"/>
                <a:cs typeface="Yu Gothic" pitchFamily="34" charset="-120"/>
              </a:rPr>
              <a:t>PHLIGHT ENGLISH　嶋村 卓亮 様</a:t>
            </a:r>
            <a:endParaRPr lang="en-US" sz="1300" dirty="0"/>
          </a:p>
        </p:txBody>
      </p:sp>
      <p:sp>
        <p:nvSpPr>
          <p:cNvPr id="4" name="Text 1"/>
          <p:cNvSpPr txBox="1"/>
          <p:nvPr/>
        </p:nvSpPr>
        <p:spPr>
          <a:xfrm>
            <a:off x="685800" y="1572768"/>
            <a:ext cx="6858000" cy="868680"/>
          </a:xfrm>
          <a:prstGeom prst="rect">
            <a:avLst/>
          </a:prstGeom>
          <a:noFill/>
          <a:ln/>
        </p:spPr>
        <p:txBody>
          <a:bodyPr wrap="square" lIns="0" tIns="0" rIns="0" bIns="0" rtlCol="0" anchor="ctr"/>
          <a:lstStyle/>
          <a:p>
            <a:pPr indent="0" marL="0">
              <a:buNone/>
            </a:pPr>
            <a:r>
              <a:rPr lang="en-US" sz="4600" b="1" spc="400" kern="0" dirty="0">
                <a:solidFill>
                  <a:srgbClr val="C9A86A"/>
                </a:solidFill>
                <a:latin typeface="Yu Mincho" pitchFamily="34" charset="0"/>
                <a:ea typeface="Yu Mincho" pitchFamily="34" charset="-122"/>
                <a:cs typeface="Yu Mincho" pitchFamily="34" charset="-120"/>
              </a:rPr>
              <a:t>ご 挨 拶</a:t>
            </a:r>
            <a:endParaRPr lang="en-US" sz="4600" dirty="0"/>
          </a:p>
        </p:txBody>
      </p:sp>
      <p:sp>
        <p:nvSpPr>
          <p:cNvPr id="5" name="Text 2"/>
          <p:cNvSpPr txBox="1"/>
          <p:nvPr/>
        </p:nvSpPr>
        <p:spPr>
          <a:xfrm>
            <a:off x="685800" y="2670048"/>
            <a:ext cx="6858000" cy="310896"/>
          </a:xfrm>
          <a:prstGeom prst="rect">
            <a:avLst/>
          </a:prstGeom>
          <a:noFill/>
          <a:ln/>
        </p:spPr>
        <p:txBody>
          <a:bodyPr wrap="square" lIns="0" tIns="0" rIns="0" bIns="0" rtlCol="0" anchor="ctr"/>
          <a:lstStyle/>
          <a:p>
            <a:pPr indent="0" marL="0">
              <a:buNone/>
            </a:pPr>
            <a:r>
              <a:rPr lang="en-US" sz="1300" spc="500" kern="0" dirty="0">
                <a:solidFill>
                  <a:srgbClr val="8B7340"/>
                </a:solidFill>
                <a:latin typeface="Calibri" pitchFamily="34" charset="0"/>
                <a:ea typeface="Calibri" pitchFamily="34" charset="-122"/>
                <a:cs typeface="Calibri" pitchFamily="34" charset="-120"/>
              </a:rPr>
              <a:t>BUSHIDO JAPAN</a:t>
            </a:r>
            <a:endParaRPr lang="en-US" sz="1300" dirty="0"/>
          </a:p>
        </p:txBody>
      </p:sp>
      <p:sp>
        <p:nvSpPr>
          <p:cNvPr id="6" name="Text 3"/>
          <p:cNvSpPr txBox="1"/>
          <p:nvPr/>
        </p:nvSpPr>
        <p:spPr>
          <a:xfrm>
            <a:off x="685800" y="3127248"/>
            <a:ext cx="6858000" cy="329184"/>
          </a:xfrm>
          <a:prstGeom prst="rect">
            <a:avLst/>
          </a:prstGeom>
          <a:noFill/>
          <a:ln/>
        </p:spPr>
        <p:txBody>
          <a:bodyPr wrap="square" lIns="0" tIns="0" rIns="0" bIns="0" rtlCol="0" anchor="ctr"/>
          <a:lstStyle/>
          <a:p>
            <a:pPr indent="0" marL="0">
              <a:buNone/>
            </a:pPr>
            <a:r>
              <a:rPr lang="en-US" sz="1500" dirty="0">
                <a:solidFill>
                  <a:srgbClr val="A29B8E"/>
                </a:solidFill>
                <a:latin typeface="Yu Gothic" pitchFamily="34" charset="0"/>
                <a:ea typeface="Yu Gothic" pitchFamily="34" charset="-122"/>
                <a:cs typeface="Yu Gothic" pitchFamily="34" charset="-120"/>
              </a:rPr>
              <a:t>合同会社BUSHIDO　代表</a:t>
            </a:r>
            <a:endParaRPr lang="en-US" sz="1500" dirty="0"/>
          </a:p>
        </p:txBody>
      </p:sp>
      <p:sp>
        <p:nvSpPr>
          <p:cNvPr id="7" name="Text 4"/>
          <p:cNvSpPr txBox="1"/>
          <p:nvPr/>
        </p:nvSpPr>
        <p:spPr>
          <a:xfrm>
            <a:off x="685800" y="3493008"/>
            <a:ext cx="6858000" cy="685800"/>
          </a:xfrm>
          <a:prstGeom prst="rect">
            <a:avLst/>
          </a:prstGeom>
          <a:noFill/>
          <a:ln/>
        </p:spPr>
        <p:txBody>
          <a:bodyPr wrap="square" lIns="0" tIns="0" rIns="0" bIns="0" rtlCol="0" anchor="ctr"/>
          <a:lstStyle/>
          <a:p>
            <a:pPr indent="0" marL="0">
              <a:buNone/>
            </a:pPr>
            <a:r>
              <a:rPr lang="en-US" sz="3600" b="1" dirty="0">
                <a:solidFill>
                  <a:srgbClr val="F5F0E8"/>
                </a:solidFill>
                <a:latin typeface="Yu Mincho" pitchFamily="34" charset="0"/>
                <a:ea typeface="Yu Mincho" pitchFamily="34" charset="-122"/>
                <a:cs typeface="Yu Mincho" pitchFamily="34" charset="-120"/>
              </a:rPr>
              <a:t>上岡 賢輔</a:t>
            </a:r>
            <a:endParaRPr lang="en-US" sz="3600" dirty="0"/>
          </a:p>
        </p:txBody>
      </p:sp>
      <p:sp>
        <p:nvSpPr>
          <p:cNvPr id="8" name="Text 5"/>
          <p:cNvSpPr txBox="1"/>
          <p:nvPr/>
        </p:nvSpPr>
        <p:spPr>
          <a:xfrm>
            <a:off x="685800" y="4617720"/>
            <a:ext cx="6858000" cy="329184"/>
          </a:xfrm>
          <a:prstGeom prst="rect">
            <a:avLst/>
          </a:prstGeom>
          <a:noFill/>
          <a:ln/>
        </p:spPr>
        <p:txBody>
          <a:bodyPr wrap="square" lIns="0" tIns="0" rIns="0" bIns="0" rtlCol="0" anchor="ctr"/>
          <a:lstStyle/>
          <a:p>
            <a:pPr indent="0" marL="0">
              <a:buNone/>
            </a:pPr>
            <a:r>
              <a:rPr lang="en-US" sz="1500" i="1" dirty="0">
                <a:solidFill>
                  <a:srgbClr val="E2C98A"/>
                </a:solidFill>
                <a:latin typeface="Cambria" pitchFamily="34" charset="0"/>
                <a:ea typeface="Cambria" pitchFamily="34" charset="-122"/>
                <a:cs typeface="Cambria" pitchFamily="34" charset="-120"/>
              </a:rPr>
              <a:t>BUSHIDO is not tourism.  It is transformation.</a:t>
            </a:r>
            <a:endParaRPr lang="en-US" sz="1500" dirty="0"/>
          </a:p>
        </p:txBody>
      </p:sp>
      <p:sp>
        <p:nvSpPr>
          <p:cNvPr id="9" name="Text 6"/>
          <p:cNvSpPr txBox="1"/>
          <p:nvPr/>
        </p:nvSpPr>
        <p:spPr>
          <a:xfrm>
            <a:off x="685800" y="5623560"/>
            <a:ext cx="6858000" cy="274320"/>
          </a:xfrm>
          <a:prstGeom prst="rect">
            <a:avLst/>
          </a:prstGeom>
          <a:noFill/>
          <a:ln/>
        </p:spPr>
        <p:txBody>
          <a:bodyPr wrap="square" lIns="0" tIns="0" rIns="0" bIns="0" rtlCol="0" anchor="ctr"/>
          <a:lstStyle/>
          <a:p>
            <a:pPr indent="0" marL="0">
              <a:buNone/>
            </a:pPr>
            <a:r>
              <a:rPr lang="en-US" sz="1200" dirty="0">
                <a:solidFill>
                  <a:srgbClr val="A29B8E"/>
                </a:solidFill>
                <a:latin typeface="Yu Gothic" pitchFamily="34" charset="0"/>
                <a:ea typeface="Yu Gothic" pitchFamily="34" charset="-122"/>
                <a:cs typeface="Yu Gothic" pitchFamily="34" charset="-120"/>
              </a:rPr>
              <a:t>中村 公一 様よりご紹介いただきました</a:t>
            </a:r>
            <a:endParaRPr lang="en-US" sz="1200" dirty="0"/>
          </a:p>
        </p:txBody>
      </p:sp>
      <p:sp>
        <p:nvSpPr>
          <p:cNvPr id="10" name="Text 7"/>
          <p:cNvSpPr txBox="1"/>
          <p:nvPr/>
        </p:nvSpPr>
        <p:spPr>
          <a:xfrm>
            <a:off x="685800" y="5943600"/>
            <a:ext cx="6858000" cy="256032"/>
          </a:xfrm>
          <a:prstGeom prst="rect">
            <a:avLst/>
          </a:prstGeom>
          <a:noFill/>
          <a:ln/>
        </p:spPr>
        <p:txBody>
          <a:bodyPr wrap="square" lIns="0" tIns="0" rIns="0" bIns="0" rtlCol="0" anchor="ctr"/>
          <a:lstStyle/>
          <a:p>
            <a:pPr indent="0" marL="0">
              <a:buNone/>
            </a:pPr>
            <a:r>
              <a:rPr lang="en-US" sz="1100" dirty="0">
                <a:solidFill>
                  <a:srgbClr val="77716A"/>
                </a:solidFill>
                <a:latin typeface="Yu Gothic" pitchFamily="34" charset="0"/>
                <a:ea typeface="Yu Gothic" pitchFamily="34" charset="-122"/>
                <a:cs typeface="Yu Gothic" pitchFamily="34" charset="-120"/>
              </a:rPr>
              <a:t>2026年8月</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75488"/>
            <a:ext cx="7315200" cy="256032"/>
          </a:xfrm>
          <a:prstGeom prst="rect">
            <a:avLst/>
          </a:prstGeom>
          <a:noFill/>
          <a:ln/>
        </p:spPr>
        <p:txBody>
          <a:bodyPr wrap="square" lIns="0" tIns="0" rIns="0" bIns="0" rtlCol="0" anchor="ctr"/>
          <a:lstStyle/>
          <a:p>
            <a:pPr indent="0" marL="0">
              <a:buNone/>
            </a:pPr>
            <a:r>
              <a:rPr lang="en-US" sz="1050" spc="300" kern="0" dirty="0">
                <a:solidFill>
                  <a:srgbClr val="8B7340"/>
                </a:solidFill>
                <a:latin typeface="Calibri" pitchFamily="34" charset="0"/>
                <a:ea typeface="Calibri" pitchFamily="34" charset="-122"/>
                <a:cs typeface="Calibri" pitchFamily="34" charset="-120"/>
              </a:rPr>
              <a:t>WHO I AM</a:t>
            </a:r>
            <a:endParaRPr lang="en-US" sz="1050" dirty="0"/>
          </a:p>
        </p:txBody>
      </p:sp>
      <p:sp>
        <p:nvSpPr>
          <p:cNvPr id="3" name="Text 1"/>
          <p:cNvSpPr txBox="1"/>
          <p:nvPr/>
        </p:nvSpPr>
        <p:spPr>
          <a:xfrm>
            <a:off x="685800" y="768096"/>
            <a:ext cx="9144000" cy="566928"/>
          </a:xfrm>
          <a:prstGeom prst="rect">
            <a:avLst/>
          </a:prstGeom>
          <a:noFill/>
          <a:ln/>
        </p:spPr>
        <p:txBody>
          <a:bodyPr wrap="square" lIns="0" tIns="0" rIns="0" bIns="0" rtlCol="0" anchor="ctr"/>
          <a:lstStyle/>
          <a:p>
            <a:pPr indent="0" marL="0">
              <a:buNone/>
            </a:pPr>
            <a:r>
              <a:rPr lang="en-US" sz="3000" b="1" dirty="0">
                <a:solidFill>
                  <a:srgbClr val="F5F0E8"/>
                </a:solidFill>
                <a:latin typeface="Yu Mincho" pitchFamily="34" charset="0"/>
                <a:ea typeface="Yu Mincho" pitchFamily="34" charset="-122"/>
                <a:cs typeface="Yu Mincho" pitchFamily="34" charset="-120"/>
              </a:rPr>
              <a:t>自己紹介</a:t>
            </a:r>
            <a:endParaRPr lang="en-US" sz="3000" dirty="0"/>
          </a:p>
        </p:txBody>
      </p:sp>
      <p:pic>
        <p:nvPicPr>
          <p:cNvPr id="4" name="Image 0" descr="/home/user/bushido-dev/deck/assets/ph-portrait.png">    </p:cNvPr>
          <p:cNvPicPr>
            <a:picLocks noChangeAspect="1"/>
          </p:cNvPicPr>
          <p:nvPr/>
        </p:nvPicPr>
        <p:blipFill>
          <a:blip r:embed="rId2"/>
          <a:stretch>
            <a:fillRect/>
          </a:stretch>
        </p:blipFill>
        <p:spPr>
          <a:xfrm>
            <a:off x="685800" y="1572768"/>
            <a:ext cx="2971800" cy="3794760"/>
          </a:xfrm>
          <a:prstGeom prst="rect">
            <a:avLst/>
          </a:prstGeom>
        </p:spPr>
      </p:pic>
      <p:sp>
        <p:nvSpPr>
          <p:cNvPr id="5" name="Text 2"/>
          <p:cNvSpPr txBox="1"/>
          <p:nvPr/>
        </p:nvSpPr>
        <p:spPr>
          <a:xfrm>
            <a:off x="685800" y="5468112"/>
            <a:ext cx="2971800" cy="237744"/>
          </a:xfrm>
          <a:prstGeom prst="rect">
            <a:avLst/>
          </a:prstGeom>
          <a:noFill/>
          <a:ln/>
        </p:spPr>
        <p:txBody>
          <a:bodyPr wrap="square" lIns="0" tIns="0" rIns="0" bIns="0" rtlCol="0" anchor="ctr"/>
          <a:lstStyle/>
          <a:p>
            <a:pPr algn="ctr" indent="0" marL="0">
              <a:buNone/>
            </a:pPr>
            <a:r>
              <a:rPr lang="en-US" sz="950" dirty="0">
                <a:solidFill>
                  <a:srgbClr val="77716A"/>
                </a:solidFill>
                <a:latin typeface="Yu Gothic" pitchFamily="34" charset="0"/>
                <a:ea typeface="Yu Gothic" pitchFamily="34" charset="-122"/>
                <a:cs typeface="Yu Gothic" pitchFamily="34" charset="-120"/>
              </a:rPr>
              <a:t>※ご本人のお写真に差し替え</a:t>
            </a:r>
            <a:endParaRPr lang="en-US" sz="950" dirty="0"/>
          </a:p>
        </p:txBody>
      </p:sp>
      <p:sp>
        <p:nvSpPr>
          <p:cNvPr id="6" name="Text 3"/>
          <p:cNvSpPr txBox="1"/>
          <p:nvPr/>
        </p:nvSpPr>
        <p:spPr>
          <a:xfrm>
            <a:off x="4224528" y="1572768"/>
            <a:ext cx="7278624" cy="502920"/>
          </a:xfrm>
          <a:prstGeom prst="rect">
            <a:avLst/>
          </a:prstGeom>
          <a:noFill/>
          <a:ln/>
        </p:spPr>
        <p:txBody>
          <a:bodyPr wrap="square" lIns="0" tIns="0" rIns="0" bIns="0" rtlCol="0" anchor="ctr"/>
          <a:lstStyle/>
          <a:p>
            <a:pPr indent="0" marL="0">
              <a:buNone/>
            </a:pPr>
            <a:r>
              <a:rPr lang="en-US" sz="3000" b="1" dirty="0">
                <a:solidFill>
                  <a:srgbClr val="F5F0E8"/>
                </a:solidFill>
                <a:latin typeface="Yu Mincho" pitchFamily="34" charset="0"/>
                <a:ea typeface="Yu Mincho" pitchFamily="34" charset="-122"/>
                <a:cs typeface="Yu Mincho" pitchFamily="34" charset="-120"/>
              </a:rPr>
              <a:t>上岡 賢輔</a:t>
            </a:r>
            <a:endParaRPr lang="en-US" sz="3000" dirty="0"/>
          </a:p>
        </p:txBody>
      </p:sp>
      <p:sp>
        <p:nvSpPr>
          <p:cNvPr id="7" name="Text 4"/>
          <p:cNvSpPr txBox="1"/>
          <p:nvPr/>
        </p:nvSpPr>
        <p:spPr>
          <a:xfrm>
            <a:off x="4224528" y="2103120"/>
            <a:ext cx="7278624" cy="274320"/>
          </a:xfrm>
          <a:prstGeom prst="rect">
            <a:avLst/>
          </a:prstGeom>
          <a:noFill/>
          <a:ln/>
        </p:spPr>
        <p:txBody>
          <a:bodyPr wrap="square" lIns="0" tIns="0" rIns="0" bIns="0" rtlCol="0" anchor="ctr"/>
          <a:lstStyle/>
          <a:p>
            <a:pPr indent="0" marL="0">
              <a:buNone/>
            </a:pPr>
            <a:r>
              <a:rPr lang="en-US" sz="1200" spc="200" kern="0" dirty="0">
                <a:solidFill>
                  <a:srgbClr val="C9A86A"/>
                </a:solidFill>
                <a:latin typeface="Calibri" pitchFamily="34" charset="0"/>
                <a:ea typeface="Calibri" pitchFamily="34" charset="-122"/>
                <a:cs typeface="Calibri" pitchFamily="34" charset="-120"/>
              </a:rPr>
              <a:t>Kensuke Ueoka</a:t>
            </a:r>
            <a:endParaRPr lang="en-US" sz="1200" dirty="0"/>
          </a:p>
        </p:txBody>
      </p:sp>
      <p:sp>
        <p:nvSpPr>
          <p:cNvPr id="8" name="Text 5"/>
          <p:cNvSpPr txBox="1"/>
          <p:nvPr/>
        </p:nvSpPr>
        <p:spPr>
          <a:xfrm>
            <a:off x="4224528" y="2450592"/>
            <a:ext cx="7278624" cy="274320"/>
          </a:xfrm>
          <a:prstGeom prst="rect">
            <a:avLst/>
          </a:prstGeom>
          <a:noFill/>
          <a:ln/>
        </p:spPr>
        <p:txBody>
          <a:bodyPr wrap="square" lIns="0" tIns="0" rIns="0" bIns="0" rtlCol="0" anchor="ctr"/>
          <a:lstStyle/>
          <a:p>
            <a:pPr indent="0" marL="0">
              <a:buNone/>
            </a:pPr>
            <a:r>
              <a:rPr lang="en-US" sz="1250" dirty="0">
                <a:solidFill>
                  <a:srgbClr val="A29B8E"/>
                </a:solidFill>
                <a:latin typeface="Yu Gothic" pitchFamily="34" charset="0"/>
                <a:ea typeface="Yu Gothic" pitchFamily="34" charset="-122"/>
                <a:cs typeface="Yu Gothic" pitchFamily="34" charset="-120"/>
              </a:rPr>
              <a:t>合同会社BUSHIDO 代表　／　BUSHIDO JAPAN Founder</a:t>
            </a:r>
            <a:endParaRPr lang="en-US" sz="1250" dirty="0"/>
          </a:p>
        </p:txBody>
      </p:sp>
      <p:sp>
        <p:nvSpPr>
          <p:cNvPr id="9" name="Text 6"/>
          <p:cNvSpPr txBox="1"/>
          <p:nvPr/>
        </p:nvSpPr>
        <p:spPr>
          <a:xfrm>
            <a:off x="4224528" y="2971800"/>
            <a:ext cx="7278624" cy="2377440"/>
          </a:xfrm>
          <a:prstGeom prst="rect">
            <a:avLst/>
          </a:prstGeom>
          <a:noFill/>
          <a:ln/>
        </p:spPr>
        <p:txBody>
          <a:bodyPr wrap="square" lIns="0" tIns="0" rIns="0" bIns="0" rtlCol="0" anchor="ctr"/>
          <a:lstStyle/>
          <a:p>
            <a:pPr marL="342900" indent="-342900">
              <a:lnSpc>
                <a:spcPts val="2200"/>
              </a:lnSpc>
              <a:spcAft>
                <a:spcPts val="1200"/>
              </a:spcAft>
              <a:buSzPct val="100000"/>
              <a:buChar char="•"/>
            </a:pPr>
            <a:r>
              <a:rPr lang="en-US" sz="1350" dirty="0">
                <a:solidFill>
                  <a:srgbClr val="F5F0E8"/>
                </a:solidFill>
                <a:latin typeface="Yu Gothic" pitchFamily="34" charset="0"/>
                <a:ea typeface="Yu Gothic" pitchFamily="34" charset="-122"/>
                <a:cs typeface="Yu Gothic" pitchFamily="34" charset="-120"/>
              </a:rPr>
              <a:t>愛知・名古屋を拠点に、訪日外国人向けの武士道・日本文化体験を企画・運営しています。</a:t>
            </a:r>
            <a:endParaRPr lang="en-US" sz="1350" dirty="0"/>
          </a:p>
          <a:p>
            <a:pPr marL="342900" indent="-342900">
              <a:lnSpc>
                <a:spcPts val="2200"/>
              </a:lnSpc>
              <a:spcAft>
                <a:spcPts val="1200"/>
              </a:spcAft>
              <a:buSzPct val="100000"/>
              <a:buChar char="•"/>
            </a:pPr>
            <a:r>
              <a:rPr lang="en-US" sz="1350" dirty="0">
                <a:solidFill>
                  <a:srgbClr val="F5F0E8"/>
                </a:solidFill>
                <a:latin typeface="Yu Gothic" pitchFamily="34" charset="0"/>
                <a:ea typeface="Yu Gothic" pitchFamily="34" charset="-122"/>
                <a:cs typeface="Yu Gothic" pitchFamily="34" charset="-120"/>
              </a:rPr>
              <a:t>弓道を修行として続ける実践者です。竹弓の工房を訪ね、流鏑馬・小笠原流の教えに学び続けています。</a:t>
            </a:r>
            <a:endParaRPr lang="en-US" sz="1350" dirty="0"/>
          </a:p>
          <a:p>
            <a:pPr marL="342900" indent="-342900">
              <a:lnSpc>
                <a:spcPts val="2200"/>
              </a:lnSpc>
              <a:spcAft>
                <a:spcPts val="1200"/>
              </a:spcAft>
              <a:buSzPct val="100000"/>
              <a:buChar char="•"/>
            </a:pPr>
            <a:r>
              <a:rPr lang="en-US" sz="1350" dirty="0">
                <a:solidFill>
                  <a:srgbClr val="F5F0E8"/>
                </a:solidFill>
                <a:latin typeface="Yu Gothic" pitchFamily="34" charset="0"/>
                <a:ea typeface="Yu Gothic" pitchFamily="34" charset="-122"/>
                <a:cs typeface="Yu Gothic" pitchFamily="34" charset="-120"/>
              </a:rPr>
              <a:t>掲げているのは「観光ではなく、変容を」。的に当てる体験ではなく、自分の軸が整う体験を設計しています。</a:t>
            </a:r>
            <a:endParaRPr lang="en-US" sz="1350" dirty="0"/>
          </a:p>
          <a:p>
            <a:pPr marL="342900" indent="-342900">
              <a:lnSpc>
                <a:spcPts val="2200"/>
              </a:lnSpc>
              <a:spcAft>
                <a:spcPts val="1200"/>
              </a:spcAft>
              <a:buSzPct val="100000"/>
              <a:buChar char="•"/>
            </a:pPr>
            <a:r>
              <a:rPr lang="en-US" sz="1350" dirty="0">
                <a:solidFill>
                  <a:srgbClr val="F5F0E8"/>
                </a:solidFill>
                <a:latin typeface="Yu Gothic" pitchFamily="34" charset="0"/>
                <a:ea typeface="Yu Gothic" pitchFamily="34" charset="-122"/>
                <a:cs typeface="Yu Gothic" pitchFamily="34" charset="-120"/>
              </a:rPr>
              <a:t>一人の親として、完璧な姿ではなく、挑戦し失敗しながら前に進む背中を子どもに見せることを大切にしています。</a:t>
            </a:r>
            <a:endParaRPr lang="en-US" sz="1350" dirty="0"/>
          </a:p>
        </p:txBody>
      </p:sp>
      <p:sp>
        <p:nvSpPr>
          <p:cNvPr id="10" name="Text 7"/>
          <p:cNvSpPr txBox="1"/>
          <p:nvPr/>
        </p:nvSpPr>
        <p:spPr>
          <a:xfrm>
            <a:off x="4224528" y="5623560"/>
            <a:ext cx="7278624" cy="310896"/>
          </a:xfrm>
          <a:prstGeom prst="rect">
            <a:avLst/>
          </a:prstGeom>
          <a:noFill/>
          <a:ln/>
        </p:spPr>
        <p:txBody>
          <a:bodyPr wrap="square" lIns="0" tIns="0" rIns="0" bIns="0" rtlCol="0" anchor="ctr"/>
          <a:lstStyle/>
          <a:p>
            <a:pPr indent="0" marL="0">
              <a:buNone/>
            </a:pPr>
            <a:r>
              <a:rPr lang="en-US" sz="1250" i="1" dirty="0">
                <a:solidFill>
                  <a:srgbClr val="8B7340"/>
                </a:solidFill>
                <a:latin typeface="Cambria" pitchFamily="34" charset="0"/>
                <a:ea typeface="Cambria" pitchFamily="34" charset="-122"/>
                <a:cs typeface="Cambria" pitchFamily="34" charset="-120"/>
              </a:rPr>
              <a:t>I train, and then I invite. Everything we offer, I practice myself.</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75488"/>
            <a:ext cx="7315200" cy="256032"/>
          </a:xfrm>
          <a:prstGeom prst="rect">
            <a:avLst/>
          </a:prstGeom>
          <a:noFill/>
          <a:ln/>
        </p:spPr>
        <p:txBody>
          <a:bodyPr wrap="square" lIns="0" tIns="0" rIns="0" bIns="0" rtlCol="0" anchor="ctr"/>
          <a:lstStyle/>
          <a:p>
            <a:pPr indent="0" marL="0">
              <a:buNone/>
            </a:pPr>
            <a:r>
              <a:rPr lang="en-US" sz="1050" spc="300" kern="0" dirty="0">
                <a:solidFill>
                  <a:srgbClr val="8B7340"/>
                </a:solidFill>
                <a:latin typeface="Calibri" pitchFamily="34" charset="0"/>
                <a:ea typeface="Calibri" pitchFamily="34" charset="-122"/>
                <a:cs typeface="Calibri" pitchFamily="34" charset="-120"/>
              </a:rPr>
              <a:t>OUR PHILOSOPHY</a:t>
            </a:r>
            <a:endParaRPr lang="en-US" sz="1050" dirty="0"/>
          </a:p>
        </p:txBody>
      </p:sp>
      <p:sp>
        <p:nvSpPr>
          <p:cNvPr id="3" name="Text 1"/>
          <p:cNvSpPr txBox="1"/>
          <p:nvPr/>
        </p:nvSpPr>
        <p:spPr>
          <a:xfrm>
            <a:off x="685800" y="768096"/>
            <a:ext cx="9144000" cy="566928"/>
          </a:xfrm>
          <a:prstGeom prst="rect">
            <a:avLst/>
          </a:prstGeom>
          <a:noFill/>
          <a:ln/>
        </p:spPr>
        <p:txBody>
          <a:bodyPr wrap="square" lIns="0" tIns="0" rIns="0" bIns="0" rtlCol="0" anchor="ctr"/>
          <a:lstStyle/>
          <a:p>
            <a:pPr indent="0" marL="0">
              <a:buNone/>
            </a:pPr>
            <a:r>
              <a:rPr lang="en-US" sz="3000" b="1" dirty="0">
                <a:solidFill>
                  <a:srgbClr val="F5F0E8"/>
                </a:solidFill>
                <a:latin typeface="Yu Mincho" pitchFamily="34" charset="0"/>
                <a:ea typeface="Yu Mincho" pitchFamily="34" charset="-122"/>
                <a:cs typeface="Yu Mincho" pitchFamily="34" charset="-120"/>
              </a:rPr>
              <a:t>なぜ、武士道か</a:t>
            </a:r>
            <a:endParaRPr lang="en-US" sz="3000" dirty="0"/>
          </a:p>
        </p:txBody>
      </p:sp>
      <p:sp>
        <p:nvSpPr>
          <p:cNvPr id="4" name="Shape 2"/>
          <p:cNvSpPr/>
          <p:nvPr/>
        </p:nvSpPr>
        <p:spPr>
          <a:xfrm>
            <a:off x="685800" y="1627632"/>
            <a:ext cx="3364992" cy="3611880"/>
          </a:xfrm>
          <a:prstGeom prst="rect">
            <a:avLst/>
          </a:prstGeom>
          <a:solidFill>
            <a:srgbClr val="1B1914"/>
          </a:solidFill>
          <a:ln w="9525">
            <a:solidFill>
              <a:srgbClr val="C9A86A">
                <a:alpha val="28000"/>
              </a:srgbClr>
            </a:solidFill>
            <a:prstDash val="solid"/>
          </a:ln>
        </p:spPr>
      </p:sp>
      <p:sp>
        <p:nvSpPr>
          <p:cNvPr id="5" name="Shape 3"/>
          <p:cNvSpPr/>
          <p:nvPr/>
        </p:nvSpPr>
        <p:spPr>
          <a:xfrm>
            <a:off x="1965960" y="1975104"/>
            <a:ext cx="804672" cy="804672"/>
          </a:xfrm>
          <a:prstGeom prst="ellipse">
            <a:avLst/>
          </a:prstGeom>
          <a:solidFill>
            <a:srgbClr val="0A0A0A"/>
          </a:solidFill>
          <a:ln w="12700">
            <a:solidFill>
              <a:srgbClr val="C9A86A"/>
            </a:solidFill>
            <a:prstDash val="solid"/>
          </a:ln>
        </p:spPr>
      </p:sp>
      <p:sp>
        <p:nvSpPr>
          <p:cNvPr id="6" name="Text 4"/>
          <p:cNvSpPr txBox="1"/>
          <p:nvPr/>
        </p:nvSpPr>
        <p:spPr>
          <a:xfrm>
            <a:off x="1965960" y="1975104"/>
            <a:ext cx="804672" cy="804672"/>
          </a:xfrm>
          <a:prstGeom prst="rect">
            <a:avLst/>
          </a:prstGeom>
          <a:noFill/>
          <a:ln/>
        </p:spPr>
        <p:txBody>
          <a:bodyPr wrap="square" lIns="0" tIns="0" rIns="0" bIns="0" rtlCol="0" anchor="ctr"/>
          <a:lstStyle/>
          <a:p>
            <a:pPr algn="ctr" indent="0" marL="0">
              <a:buNone/>
            </a:pPr>
            <a:r>
              <a:rPr lang="en-US" sz="2600" dirty="0">
                <a:solidFill>
                  <a:srgbClr val="C9A86A"/>
                </a:solidFill>
                <a:latin typeface="Yu Mincho" pitchFamily="34" charset="0"/>
                <a:ea typeface="Yu Mincho" pitchFamily="34" charset="-122"/>
                <a:cs typeface="Yu Mincho" pitchFamily="34" charset="-120"/>
              </a:rPr>
              <a:t>道</a:t>
            </a:r>
            <a:endParaRPr lang="en-US" sz="2600" dirty="0"/>
          </a:p>
        </p:txBody>
      </p:sp>
      <p:sp>
        <p:nvSpPr>
          <p:cNvPr id="7" name="Text 5"/>
          <p:cNvSpPr txBox="1"/>
          <p:nvPr/>
        </p:nvSpPr>
        <p:spPr>
          <a:xfrm>
            <a:off x="960120" y="2999232"/>
            <a:ext cx="2816352" cy="603504"/>
          </a:xfrm>
          <a:prstGeom prst="rect">
            <a:avLst/>
          </a:prstGeom>
          <a:noFill/>
          <a:ln/>
        </p:spPr>
        <p:txBody>
          <a:bodyPr wrap="square" lIns="0" tIns="0" rIns="0" bIns="0" rtlCol="0" anchor="ctr"/>
          <a:lstStyle/>
          <a:p>
            <a:pPr algn="ctr" indent="0" marL="0">
              <a:buNone/>
            </a:pPr>
            <a:r>
              <a:rPr lang="en-US" sz="1650" b="1" dirty="0">
                <a:solidFill>
                  <a:srgbClr val="E2C98A"/>
                </a:solidFill>
                <a:latin typeface="Yu Mincho" pitchFamily="34" charset="0"/>
                <a:ea typeface="Yu Mincho" pitchFamily="34" charset="-122"/>
                <a:cs typeface="Yu Mincho" pitchFamily="34" charset="-120"/>
              </a:rPr>
              <a:t>技ではなく、道である</a:t>
            </a:r>
            <a:endParaRPr lang="en-US" sz="1650" dirty="0"/>
          </a:p>
        </p:txBody>
      </p:sp>
      <p:sp>
        <p:nvSpPr>
          <p:cNvPr id="8" name="Text 6"/>
          <p:cNvSpPr txBox="1"/>
          <p:nvPr/>
        </p:nvSpPr>
        <p:spPr>
          <a:xfrm>
            <a:off x="996696" y="3675888"/>
            <a:ext cx="2743200" cy="1371600"/>
          </a:xfrm>
          <a:prstGeom prst="rect">
            <a:avLst/>
          </a:prstGeom>
          <a:noFill/>
          <a:ln/>
        </p:spPr>
        <p:txBody>
          <a:bodyPr wrap="square" lIns="0" tIns="0" rIns="0" bIns="0" rtlCol="0" anchor="ctr"/>
          <a:lstStyle/>
          <a:p>
            <a:pPr indent="0" marL="0">
              <a:lnSpc>
                <a:spcPts val="1900"/>
              </a:lnSpc>
              <a:buNone/>
            </a:pPr>
            <a:r>
              <a:rPr lang="en-US" sz="1200" dirty="0">
                <a:solidFill>
                  <a:srgbClr val="A29B8E"/>
                </a:solidFill>
                <a:latin typeface="Yu Gothic" pitchFamily="34" charset="0"/>
                <a:ea typeface="Yu Gothic" pitchFamily="34" charset="-122"/>
                <a:cs typeface="Yu Gothic" pitchFamily="34" charset="-120"/>
              </a:rPr>
              <a:t>武道は技術の習得ではありません。丹田、姿勢、呼吸、足さばき。日常の所作そのものを整える道です。一流の人は、歩き方から違います。</a:t>
            </a:r>
            <a:endParaRPr lang="en-US" sz="1200" dirty="0"/>
          </a:p>
        </p:txBody>
      </p:sp>
      <p:sp>
        <p:nvSpPr>
          <p:cNvPr id="9" name="Shape 7"/>
          <p:cNvSpPr/>
          <p:nvPr/>
        </p:nvSpPr>
        <p:spPr>
          <a:xfrm>
            <a:off x="4498848" y="1627632"/>
            <a:ext cx="3364992" cy="3611880"/>
          </a:xfrm>
          <a:prstGeom prst="rect">
            <a:avLst/>
          </a:prstGeom>
          <a:solidFill>
            <a:srgbClr val="1B1914"/>
          </a:solidFill>
          <a:ln w="9525">
            <a:solidFill>
              <a:srgbClr val="C9A86A">
                <a:alpha val="28000"/>
              </a:srgbClr>
            </a:solidFill>
            <a:prstDash val="solid"/>
          </a:ln>
        </p:spPr>
      </p:sp>
      <p:sp>
        <p:nvSpPr>
          <p:cNvPr id="10" name="Shape 8"/>
          <p:cNvSpPr/>
          <p:nvPr/>
        </p:nvSpPr>
        <p:spPr>
          <a:xfrm>
            <a:off x="5779008" y="1975104"/>
            <a:ext cx="804672" cy="804672"/>
          </a:xfrm>
          <a:prstGeom prst="ellipse">
            <a:avLst/>
          </a:prstGeom>
          <a:solidFill>
            <a:srgbClr val="0A0A0A"/>
          </a:solidFill>
          <a:ln w="12700">
            <a:solidFill>
              <a:srgbClr val="C9A86A"/>
            </a:solidFill>
            <a:prstDash val="solid"/>
          </a:ln>
        </p:spPr>
      </p:sp>
      <p:sp>
        <p:nvSpPr>
          <p:cNvPr id="11" name="Text 9"/>
          <p:cNvSpPr txBox="1"/>
          <p:nvPr/>
        </p:nvSpPr>
        <p:spPr>
          <a:xfrm>
            <a:off x="5779008" y="1975104"/>
            <a:ext cx="804672" cy="804672"/>
          </a:xfrm>
          <a:prstGeom prst="rect">
            <a:avLst/>
          </a:prstGeom>
          <a:noFill/>
          <a:ln/>
        </p:spPr>
        <p:txBody>
          <a:bodyPr wrap="square" lIns="0" tIns="0" rIns="0" bIns="0" rtlCol="0" anchor="ctr"/>
          <a:lstStyle/>
          <a:p>
            <a:pPr algn="ctr" indent="0" marL="0">
              <a:buNone/>
            </a:pPr>
            <a:r>
              <a:rPr lang="en-US" sz="2600" dirty="0">
                <a:solidFill>
                  <a:srgbClr val="C9A86A"/>
                </a:solidFill>
                <a:latin typeface="Yu Mincho" pitchFamily="34" charset="0"/>
                <a:ea typeface="Yu Mincho" pitchFamily="34" charset="-122"/>
                <a:cs typeface="Yu Mincho" pitchFamily="34" charset="-120"/>
              </a:rPr>
              <a:t>生</a:t>
            </a:r>
            <a:endParaRPr lang="en-US" sz="2600" dirty="0"/>
          </a:p>
        </p:txBody>
      </p:sp>
      <p:sp>
        <p:nvSpPr>
          <p:cNvPr id="12" name="Text 10"/>
          <p:cNvSpPr txBox="1"/>
          <p:nvPr/>
        </p:nvSpPr>
        <p:spPr>
          <a:xfrm>
            <a:off x="4773168" y="2999232"/>
            <a:ext cx="2816352" cy="603504"/>
          </a:xfrm>
          <a:prstGeom prst="rect">
            <a:avLst/>
          </a:prstGeom>
          <a:noFill/>
          <a:ln/>
        </p:spPr>
        <p:txBody>
          <a:bodyPr wrap="square" lIns="0" tIns="0" rIns="0" bIns="0" rtlCol="0" anchor="ctr"/>
          <a:lstStyle/>
          <a:p>
            <a:pPr algn="ctr" indent="0" marL="0">
              <a:buNone/>
            </a:pPr>
            <a:r>
              <a:rPr lang="en-US" sz="1650" b="1" dirty="0">
                <a:solidFill>
                  <a:srgbClr val="E2C98A"/>
                </a:solidFill>
                <a:latin typeface="Yu Mincho" pitchFamily="34" charset="0"/>
                <a:ea typeface="Yu Mincho" pitchFamily="34" charset="-122"/>
                <a:cs typeface="Yu Mincho" pitchFamily="34" charset="-120"/>
              </a:rPr>
              <a:t>竹弓は、生きている</a:t>
            </a:r>
            <a:endParaRPr lang="en-US" sz="1650" dirty="0"/>
          </a:p>
        </p:txBody>
      </p:sp>
      <p:sp>
        <p:nvSpPr>
          <p:cNvPr id="13" name="Text 11"/>
          <p:cNvSpPr txBox="1"/>
          <p:nvPr/>
        </p:nvSpPr>
        <p:spPr>
          <a:xfrm>
            <a:off x="4809744" y="3675888"/>
            <a:ext cx="2743200" cy="1371600"/>
          </a:xfrm>
          <a:prstGeom prst="rect">
            <a:avLst/>
          </a:prstGeom>
          <a:noFill/>
          <a:ln/>
        </p:spPr>
        <p:txBody>
          <a:bodyPr wrap="square" lIns="0" tIns="0" rIns="0" bIns="0" rtlCol="0" anchor="ctr"/>
          <a:lstStyle/>
          <a:p>
            <a:pPr indent="0" marL="0">
              <a:lnSpc>
                <a:spcPts val="1900"/>
              </a:lnSpc>
              <a:buNone/>
            </a:pPr>
            <a:r>
              <a:rPr lang="en-US" sz="1200" dirty="0">
                <a:solidFill>
                  <a:srgbClr val="A29B8E"/>
                </a:solidFill>
                <a:latin typeface="Yu Gothic" pitchFamily="34" charset="0"/>
                <a:ea typeface="Yu Gothic" pitchFamily="34" charset="-122"/>
                <a:cs typeface="Yu Gothic" pitchFamily="34" charset="-120"/>
              </a:rPr>
              <a:t>竹弓は一本ごとに個性があり、気温や時間帯で状態が変わります。均一ではないからこそ、扱う人間の内面が問われます。</a:t>
            </a:r>
            <a:endParaRPr lang="en-US" sz="1200" dirty="0"/>
          </a:p>
        </p:txBody>
      </p:sp>
      <p:sp>
        <p:nvSpPr>
          <p:cNvPr id="14" name="Shape 12"/>
          <p:cNvSpPr/>
          <p:nvPr/>
        </p:nvSpPr>
        <p:spPr>
          <a:xfrm>
            <a:off x="8311896" y="1627632"/>
            <a:ext cx="3364992" cy="3611880"/>
          </a:xfrm>
          <a:prstGeom prst="rect">
            <a:avLst/>
          </a:prstGeom>
          <a:solidFill>
            <a:srgbClr val="1B1914"/>
          </a:solidFill>
          <a:ln w="9525">
            <a:solidFill>
              <a:srgbClr val="C9A86A">
                <a:alpha val="28000"/>
              </a:srgbClr>
            </a:solidFill>
            <a:prstDash val="solid"/>
          </a:ln>
        </p:spPr>
      </p:sp>
      <p:sp>
        <p:nvSpPr>
          <p:cNvPr id="15" name="Shape 13"/>
          <p:cNvSpPr/>
          <p:nvPr/>
        </p:nvSpPr>
        <p:spPr>
          <a:xfrm>
            <a:off x="9592056" y="1975104"/>
            <a:ext cx="804672" cy="804672"/>
          </a:xfrm>
          <a:prstGeom prst="ellipse">
            <a:avLst/>
          </a:prstGeom>
          <a:solidFill>
            <a:srgbClr val="0A0A0A"/>
          </a:solidFill>
          <a:ln w="12700">
            <a:solidFill>
              <a:srgbClr val="C9A86A"/>
            </a:solidFill>
            <a:prstDash val="solid"/>
          </a:ln>
        </p:spPr>
      </p:sp>
      <p:sp>
        <p:nvSpPr>
          <p:cNvPr id="16" name="Text 14"/>
          <p:cNvSpPr txBox="1"/>
          <p:nvPr/>
        </p:nvSpPr>
        <p:spPr>
          <a:xfrm>
            <a:off x="9592056" y="1975104"/>
            <a:ext cx="804672" cy="804672"/>
          </a:xfrm>
          <a:prstGeom prst="rect">
            <a:avLst/>
          </a:prstGeom>
          <a:noFill/>
          <a:ln/>
        </p:spPr>
        <p:txBody>
          <a:bodyPr wrap="square" lIns="0" tIns="0" rIns="0" bIns="0" rtlCol="0" anchor="ctr"/>
          <a:lstStyle/>
          <a:p>
            <a:pPr algn="ctr" indent="0" marL="0">
              <a:buNone/>
            </a:pPr>
            <a:r>
              <a:rPr lang="en-US" sz="2600" dirty="0">
                <a:solidFill>
                  <a:srgbClr val="C9A86A"/>
                </a:solidFill>
                <a:latin typeface="Yu Mincho" pitchFamily="34" charset="0"/>
                <a:ea typeface="Yu Mincho" pitchFamily="34" charset="-122"/>
                <a:cs typeface="Yu Mincho" pitchFamily="34" charset="-120"/>
              </a:rPr>
              <a:t>守</a:t>
            </a:r>
            <a:endParaRPr lang="en-US" sz="2600" dirty="0"/>
          </a:p>
        </p:txBody>
      </p:sp>
      <p:sp>
        <p:nvSpPr>
          <p:cNvPr id="17" name="Text 15"/>
          <p:cNvSpPr txBox="1"/>
          <p:nvPr/>
        </p:nvSpPr>
        <p:spPr>
          <a:xfrm>
            <a:off x="8586216" y="2999232"/>
            <a:ext cx="2816352" cy="603504"/>
          </a:xfrm>
          <a:prstGeom prst="rect">
            <a:avLst/>
          </a:prstGeom>
          <a:noFill/>
          <a:ln/>
        </p:spPr>
        <p:txBody>
          <a:bodyPr wrap="square" lIns="0" tIns="0" rIns="0" bIns="0" rtlCol="0" anchor="ctr"/>
          <a:lstStyle/>
          <a:p>
            <a:pPr algn="ctr" indent="0" marL="0">
              <a:buNone/>
            </a:pPr>
            <a:r>
              <a:rPr lang="en-US" sz="1650" b="1" dirty="0">
                <a:solidFill>
                  <a:srgbClr val="E2C98A"/>
                </a:solidFill>
                <a:latin typeface="Yu Mincho" pitchFamily="34" charset="0"/>
                <a:ea typeface="Yu Mincho" pitchFamily="34" charset="-122"/>
                <a:cs typeface="Yu Mincho" pitchFamily="34" charset="-120"/>
              </a:rPr>
              <a:t>曲げてはいけない本質</a:t>
            </a:r>
            <a:endParaRPr lang="en-US" sz="1650" dirty="0"/>
          </a:p>
        </p:txBody>
      </p:sp>
      <p:sp>
        <p:nvSpPr>
          <p:cNvPr id="18" name="Text 16"/>
          <p:cNvSpPr txBox="1"/>
          <p:nvPr/>
        </p:nvSpPr>
        <p:spPr>
          <a:xfrm>
            <a:off x="8622792" y="3675888"/>
            <a:ext cx="2743200" cy="1371600"/>
          </a:xfrm>
          <a:prstGeom prst="rect">
            <a:avLst/>
          </a:prstGeom>
          <a:noFill/>
          <a:ln/>
        </p:spPr>
        <p:txBody>
          <a:bodyPr wrap="square" lIns="0" tIns="0" rIns="0" bIns="0" rtlCol="0" anchor="ctr"/>
          <a:lstStyle/>
          <a:p>
            <a:pPr indent="0" marL="0">
              <a:lnSpc>
                <a:spcPts val="1900"/>
              </a:lnSpc>
              <a:buNone/>
            </a:pPr>
            <a:r>
              <a:rPr lang="en-US" sz="1200" dirty="0">
                <a:solidFill>
                  <a:srgbClr val="A29B8E"/>
                </a:solidFill>
                <a:latin typeface="Yu Gothic" pitchFamily="34" charset="0"/>
                <a:ea typeface="Yu Gothic" pitchFamily="34" charset="-122"/>
                <a:cs typeface="Yu Gothic" pitchFamily="34" charset="-120"/>
              </a:rPr>
              <a:t>伝統文化を事業にするとき、売れる形に変えることと、本質を曲げることは違います。守るべき芯を持ち続けます。</a:t>
            </a:r>
            <a:endParaRPr lang="en-US" sz="1200" dirty="0"/>
          </a:p>
        </p:txBody>
      </p:sp>
      <p:sp>
        <p:nvSpPr>
          <p:cNvPr id="19" name="Text 17"/>
          <p:cNvSpPr txBox="1"/>
          <p:nvPr/>
        </p:nvSpPr>
        <p:spPr>
          <a:xfrm>
            <a:off x="685800" y="5596128"/>
            <a:ext cx="10817352" cy="310896"/>
          </a:xfrm>
          <a:prstGeom prst="rect">
            <a:avLst/>
          </a:prstGeom>
          <a:noFill/>
          <a:ln/>
        </p:spPr>
        <p:txBody>
          <a:bodyPr wrap="square" lIns="0" tIns="0" rIns="0" bIns="0" rtlCol="0" anchor="ctr"/>
          <a:lstStyle/>
          <a:p>
            <a:pPr indent="0" marL="0">
              <a:buNone/>
            </a:pPr>
            <a:r>
              <a:rPr lang="en-US" sz="1250" i="1" dirty="0">
                <a:solidFill>
                  <a:srgbClr val="8B7340"/>
                </a:solidFill>
                <a:latin typeface="Cambria" pitchFamily="34" charset="0"/>
                <a:ea typeface="Cambria" pitchFamily="34" charset="-122"/>
                <a:cs typeface="Cambria" pitchFamily="34" charset="-120"/>
              </a:rPr>
              <a:t>Japanese martial arts are not only techniques. They are a way to refine the body, mind, and spirit.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75488"/>
            <a:ext cx="7315200" cy="256032"/>
          </a:xfrm>
          <a:prstGeom prst="rect">
            <a:avLst/>
          </a:prstGeom>
          <a:noFill/>
          <a:ln/>
        </p:spPr>
        <p:txBody>
          <a:bodyPr wrap="square" lIns="0" tIns="0" rIns="0" bIns="0" rtlCol="0" anchor="ctr"/>
          <a:lstStyle/>
          <a:p>
            <a:pPr indent="0" marL="0">
              <a:buNone/>
            </a:pPr>
            <a:r>
              <a:rPr lang="en-US" sz="1050" spc="300" kern="0" dirty="0">
                <a:solidFill>
                  <a:srgbClr val="8B7340"/>
                </a:solidFill>
                <a:latin typeface="Calibri" pitchFamily="34" charset="0"/>
                <a:ea typeface="Calibri" pitchFamily="34" charset="-122"/>
                <a:cs typeface="Calibri" pitchFamily="34" charset="-120"/>
              </a:rPr>
              <a:t>COMPANY</a:t>
            </a:r>
            <a:endParaRPr lang="en-US" sz="1050" dirty="0"/>
          </a:p>
        </p:txBody>
      </p:sp>
      <p:sp>
        <p:nvSpPr>
          <p:cNvPr id="3" name="Text 1"/>
          <p:cNvSpPr txBox="1"/>
          <p:nvPr/>
        </p:nvSpPr>
        <p:spPr>
          <a:xfrm>
            <a:off x="685800" y="768096"/>
            <a:ext cx="9144000" cy="566928"/>
          </a:xfrm>
          <a:prstGeom prst="rect">
            <a:avLst/>
          </a:prstGeom>
          <a:noFill/>
          <a:ln/>
        </p:spPr>
        <p:txBody>
          <a:bodyPr wrap="square" lIns="0" tIns="0" rIns="0" bIns="0" rtlCol="0" anchor="ctr"/>
          <a:lstStyle/>
          <a:p>
            <a:pPr indent="0" marL="0">
              <a:buNone/>
            </a:pPr>
            <a:r>
              <a:rPr lang="en-US" sz="3000" b="1" dirty="0">
                <a:solidFill>
                  <a:srgbClr val="F5F0E8"/>
                </a:solidFill>
                <a:latin typeface="Yu Mincho" pitchFamily="34" charset="0"/>
                <a:ea typeface="Yu Mincho" pitchFamily="34" charset="-122"/>
                <a:cs typeface="Yu Mincho" pitchFamily="34" charset="-120"/>
              </a:rPr>
              <a:t>会社概要</a:t>
            </a:r>
            <a:endParaRPr lang="en-US" sz="3000" dirty="0"/>
          </a:p>
        </p:txBody>
      </p:sp>
      <p:sp>
        <p:nvSpPr>
          <p:cNvPr id="4" name="Text 2"/>
          <p:cNvSpPr txBox="1"/>
          <p:nvPr/>
        </p:nvSpPr>
        <p:spPr>
          <a:xfrm>
            <a:off x="685800" y="1664208"/>
            <a:ext cx="1600200" cy="329184"/>
          </a:xfrm>
          <a:prstGeom prst="rect">
            <a:avLst/>
          </a:prstGeom>
          <a:noFill/>
          <a:ln/>
        </p:spPr>
        <p:txBody>
          <a:bodyPr wrap="square" lIns="0" tIns="0" rIns="0" bIns="0" rtlCol="0" anchor="ctr"/>
          <a:lstStyle/>
          <a:p>
            <a:pPr indent="0" marL="0">
              <a:buNone/>
            </a:pPr>
            <a:r>
              <a:rPr lang="en-US" sz="1150" spc="100" kern="0" dirty="0">
                <a:solidFill>
                  <a:srgbClr val="C9A86A"/>
                </a:solidFill>
                <a:latin typeface="Yu Gothic" pitchFamily="34" charset="0"/>
                <a:ea typeface="Yu Gothic" pitchFamily="34" charset="-122"/>
                <a:cs typeface="Yu Gothic" pitchFamily="34" charset="-120"/>
              </a:rPr>
              <a:t>会 社 名</a:t>
            </a:r>
            <a:endParaRPr lang="en-US" sz="1150" dirty="0"/>
          </a:p>
        </p:txBody>
      </p:sp>
      <p:sp>
        <p:nvSpPr>
          <p:cNvPr id="5" name="Text 3"/>
          <p:cNvSpPr txBox="1"/>
          <p:nvPr/>
        </p:nvSpPr>
        <p:spPr>
          <a:xfrm>
            <a:off x="2560320" y="1627632"/>
            <a:ext cx="4983480" cy="402336"/>
          </a:xfrm>
          <a:prstGeom prst="rect">
            <a:avLst/>
          </a:prstGeom>
          <a:noFill/>
          <a:ln/>
        </p:spPr>
        <p:txBody>
          <a:bodyPr wrap="square" lIns="0" tIns="0" rIns="0" bIns="0" rtlCol="0" anchor="ctr"/>
          <a:lstStyle/>
          <a:p>
            <a:pPr indent="0" marL="0">
              <a:buNone/>
            </a:pPr>
            <a:r>
              <a:rPr lang="en-US" sz="1300" dirty="0">
                <a:solidFill>
                  <a:srgbClr val="F5F0E8"/>
                </a:solidFill>
                <a:latin typeface="Yu Gothic" pitchFamily="34" charset="0"/>
                <a:ea typeface="Yu Gothic" pitchFamily="34" charset="-122"/>
                <a:cs typeface="Yu Gothic" pitchFamily="34" charset="-120"/>
              </a:rPr>
              <a:t>合同会社BUSHIDO（BUSHIDO JAPAN）</a:t>
            </a:r>
            <a:endParaRPr lang="en-US" sz="1300" dirty="0"/>
          </a:p>
        </p:txBody>
      </p:sp>
      <p:sp>
        <p:nvSpPr>
          <p:cNvPr id="6" name="Text 4"/>
          <p:cNvSpPr txBox="1"/>
          <p:nvPr/>
        </p:nvSpPr>
        <p:spPr>
          <a:xfrm>
            <a:off x="685800" y="2267712"/>
            <a:ext cx="1600200" cy="329184"/>
          </a:xfrm>
          <a:prstGeom prst="rect">
            <a:avLst/>
          </a:prstGeom>
          <a:noFill/>
          <a:ln/>
        </p:spPr>
        <p:txBody>
          <a:bodyPr wrap="square" lIns="0" tIns="0" rIns="0" bIns="0" rtlCol="0" anchor="ctr"/>
          <a:lstStyle/>
          <a:p>
            <a:pPr indent="0" marL="0">
              <a:buNone/>
            </a:pPr>
            <a:r>
              <a:rPr lang="en-US" sz="1150" spc="100" kern="0" dirty="0">
                <a:solidFill>
                  <a:srgbClr val="C9A86A"/>
                </a:solidFill>
                <a:latin typeface="Yu Gothic" pitchFamily="34" charset="0"/>
                <a:ea typeface="Yu Gothic" pitchFamily="34" charset="-122"/>
                <a:cs typeface="Yu Gothic" pitchFamily="34" charset="-120"/>
              </a:rPr>
              <a:t>代 表 者</a:t>
            </a:r>
            <a:endParaRPr lang="en-US" sz="1150" dirty="0"/>
          </a:p>
        </p:txBody>
      </p:sp>
      <p:sp>
        <p:nvSpPr>
          <p:cNvPr id="7" name="Text 5"/>
          <p:cNvSpPr txBox="1"/>
          <p:nvPr/>
        </p:nvSpPr>
        <p:spPr>
          <a:xfrm>
            <a:off x="2560320" y="2231136"/>
            <a:ext cx="4983480" cy="402336"/>
          </a:xfrm>
          <a:prstGeom prst="rect">
            <a:avLst/>
          </a:prstGeom>
          <a:noFill/>
          <a:ln/>
        </p:spPr>
        <p:txBody>
          <a:bodyPr wrap="square" lIns="0" tIns="0" rIns="0" bIns="0" rtlCol="0" anchor="ctr"/>
          <a:lstStyle/>
          <a:p>
            <a:pPr indent="0" marL="0">
              <a:buNone/>
            </a:pPr>
            <a:r>
              <a:rPr lang="en-US" sz="1300" dirty="0">
                <a:solidFill>
                  <a:srgbClr val="F5F0E8"/>
                </a:solidFill>
                <a:latin typeface="Yu Gothic" pitchFamily="34" charset="0"/>
                <a:ea typeface="Yu Gothic" pitchFamily="34" charset="-122"/>
                <a:cs typeface="Yu Gothic" pitchFamily="34" charset="-120"/>
              </a:rPr>
              <a:t>上岡 賢輔</a:t>
            </a:r>
            <a:endParaRPr lang="en-US" sz="1300" dirty="0"/>
          </a:p>
        </p:txBody>
      </p:sp>
      <p:sp>
        <p:nvSpPr>
          <p:cNvPr id="8" name="Text 6"/>
          <p:cNvSpPr txBox="1"/>
          <p:nvPr/>
        </p:nvSpPr>
        <p:spPr>
          <a:xfrm>
            <a:off x="685800" y="2871216"/>
            <a:ext cx="1600200" cy="329184"/>
          </a:xfrm>
          <a:prstGeom prst="rect">
            <a:avLst/>
          </a:prstGeom>
          <a:noFill/>
          <a:ln/>
        </p:spPr>
        <p:txBody>
          <a:bodyPr wrap="square" lIns="0" tIns="0" rIns="0" bIns="0" rtlCol="0" anchor="ctr"/>
          <a:lstStyle/>
          <a:p>
            <a:pPr indent="0" marL="0">
              <a:buNone/>
            </a:pPr>
            <a:r>
              <a:rPr lang="en-US" sz="1150" spc="100" kern="0" dirty="0">
                <a:solidFill>
                  <a:srgbClr val="C9A86A"/>
                </a:solidFill>
                <a:latin typeface="Yu Gothic" pitchFamily="34" charset="0"/>
                <a:ea typeface="Yu Gothic" pitchFamily="34" charset="-122"/>
                <a:cs typeface="Yu Gothic" pitchFamily="34" charset="-120"/>
              </a:rPr>
              <a:t>設 立</a:t>
            </a:r>
            <a:endParaRPr lang="en-US" sz="1150" dirty="0"/>
          </a:p>
        </p:txBody>
      </p:sp>
      <p:sp>
        <p:nvSpPr>
          <p:cNvPr id="9" name="Text 7"/>
          <p:cNvSpPr txBox="1"/>
          <p:nvPr/>
        </p:nvSpPr>
        <p:spPr>
          <a:xfrm>
            <a:off x="2560320" y="2834640"/>
            <a:ext cx="4983480" cy="402336"/>
          </a:xfrm>
          <a:prstGeom prst="rect">
            <a:avLst/>
          </a:prstGeom>
          <a:noFill/>
          <a:ln/>
        </p:spPr>
        <p:txBody>
          <a:bodyPr wrap="square" lIns="0" tIns="0" rIns="0" bIns="0" rtlCol="0" anchor="ctr"/>
          <a:lstStyle/>
          <a:p>
            <a:pPr indent="0" marL="0">
              <a:buNone/>
            </a:pPr>
            <a:r>
              <a:rPr lang="en-US" sz="1300" dirty="0">
                <a:solidFill>
                  <a:srgbClr val="F5F0E8"/>
                </a:solidFill>
                <a:latin typeface="Yu Gothic" pitchFamily="34" charset="0"/>
                <a:ea typeface="Yu Gothic" pitchFamily="34" charset="-122"/>
                <a:cs typeface="Yu Gothic" pitchFamily="34" charset="-120"/>
              </a:rPr>
              <a:t>2023年3月</a:t>
            </a:r>
            <a:endParaRPr lang="en-US" sz="1300" dirty="0"/>
          </a:p>
        </p:txBody>
      </p:sp>
      <p:sp>
        <p:nvSpPr>
          <p:cNvPr id="10" name="Text 8"/>
          <p:cNvSpPr txBox="1"/>
          <p:nvPr/>
        </p:nvSpPr>
        <p:spPr>
          <a:xfrm>
            <a:off x="685800" y="3474720"/>
            <a:ext cx="1600200" cy="329184"/>
          </a:xfrm>
          <a:prstGeom prst="rect">
            <a:avLst/>
          </a:prstGeom>
          <a:noFill/>
          <a:ln/>
        </p:spPr>
        <p:txBody>
          <a:bodyPr wrap="square" lIns="0" tIns="0" rIns="0" bIns="0" rtlCol="0" anchor="ctr"/>
          <a:lstStyle/>
          <a:p>
            <a:pPr indent="0" marL="0">
              <a:buNone/>
            </a:pPr>
            <a:r>
              <a:rPr lang="en-US" sz="1150" spc="100" kern="0" dirty="0">
                <a:solidFill>
                  <a:srgbClr val="C9A86A"/>
                </a:solidFill>
                <a:latin typeface="Yu Gothic" pitchFamily="34" charset="0"/>
                <a:ea typeface="Yu Gothic" pitchFamily="34" charset="-122"/>
                <a:cs typeface="Yu Gothic" pitchFamily="34" charset="-120"/>
              </a:rPr>
              <a:t>所 在 地</a:t>
            </a:r>
            <a:endParaRPr lang="en-US" sz="1150" dirty="0"/>
          </a:p>
        </p:txBody>
      </p:sp>
      <p:sp>
        <p:nvSpPr>
          <p:cNvPr id="11" name="Text 9"/>
          <p:cNvSpPr txBox="1"/>
          <p:nvPr/>
        </p:nvSpPr>
        <p:spPr>
          <a:xfrm>
            <a:off x="2560320" y="3438144"/>
            <a:ext cx="4983480" cy="402336"/>
          </a:xfrm>
          <a:prstGeom prst="rect">
            <a:avLst/>
          </a:prstGeom>
          <a:noFill/>
          <a:ln/>
        </p:spPr>
        <p:txBody>
          <a:bodyPr wrap="square" lIns="0" tIns="0" rIns="0" bIns="0" rtlCol="0" anchor="ctr"/>
          <a:lstStyle/>
          <a:p>
            <a:pPr indent="0" marL="0">
              <a:buNone/>
            </a:pPr>
            <a:r>
              <a:rPr lang="en-US" sz="1300" dirty="0">
                <a:solidFill>
                  <a:srgbClr val="F5F0E8"/>
                </a:solidFill>
                <a:latin typeface="Yu Gothic" pitchFamily="34" charset="0"/>
                <a:ea typeface="Yu Gothic" pitchFamily="34" charset="-122"/>
                <a:cs typeface="Yu Gothic" pitchFamily="34" charset="-120"/>
              </a:rPr>
              <a:t>愛知県稲沢市</a:t>
            </a:r>
            <a:endParaRPr lang="en-US" sz="1300" dirty="0"/>
          </a:p>
        </p:txBody>
      </p:sp>
      <p:sp>
        <p:nvSpPr>
          <p:cNvPr id="12" name="Text 10"/>
          <p:cNvSpPr txBox="1"/>
          <p:nvPr/>
        </p:nvSpPr>
        <p:spPr>
          <a:xfrm>
            <a:off x="685800" y="4078224"/>
            <a:ext cx="1600200" cy="329184"/>
          </a:xfrm>
          <a:prstGeom prst="rect">
            <a:avLst/>
          </a:prstGeom>
          <a:noFill/>
          <a:ln/>
        </p:spPr>
        <p:txBody>
          <a:bodyPr wrap="square" lIns="0" tIns="0" rIns="0" bIns="0" rtlCol="0" anchor="ctr"/>
          <a:lstStyle/>
          <a:p>
            <a:pPr indent="0" marL="0">
              <a:buNone/>
            </a:pPr>
            <a:r>
              <a:rPr lang="en-US" sz="1150" spc="100" kern="0" dirty="0">
                <a:solidFill>
                  <a:srgbClr val="C9A86A"/>
                </a:solidFill>
                <a:latin typeface="Yu Gothic" pitchFamily="34" charset="0"/>
                <a:ea typeface="Yu Gothic" pitchFamily="34" charset="-122"/>
                <a:cs typeface="Yu Gothic" pitchFamily="34" charset="-120"/>
              </a:rPr>
              <a:t>事 業 内 容</a:t>
            </a:r>
            <a:endParaRPr lang="en-US" sz="1150" dirty="0"/>
          </a:p>
        </p:txBody>
      </p:sp>
      <p:sp>
        <p:nvSpPr>
          <p:cNvPr id="13" name="Text 11"/>
          <p:cNvSpPr txBox="1"/>
          <p:nvPr/>
        </p:nvSpPr>
        <p:spPr>
          <a:xfrm>
            <a:off x="2560320" y="4041648"/>
            <a:ext cx="4983480" cy="402336"/>
          </a:xfrm>
          <a:prstGeom prst="rect">
            <a:avLst/>
          </a:prstGeom>
          <a:noFill/>
          <a:ln/>
        </p:spPr>
        <p:txBody>
          <a:bodyPr wrap="square" lIns="0" tIns="0" rIns="0" bIns="0" rtlCol="0" anchor="ctr"/>
          <a:lstStyle/>
          <a:p>
            <a:pPr indent="0" marL="0">
              <a:buNone/>
            </a:pPr>
            <a:r>
              <a:rPr lang="en-US" sz="1300" dirty="0">
                <a:solidFill>
                  <a:srgbClr val="F5F0E8"/>
                </a:solidFill>
                <a:latin typeface="Yu Gothic" pitchFamily="34" charset="0"/>
                <a:ea typeface="Yu Gothic" pitchFamily="34" charset="-122"/>
                <a:cs typeface="Yu Gothic" pitchFamily="34" charset="-120"/>
              </a:rPr>
              <a:t>訪日外国人向け 武士道・日本文化体験の企画・運営／コーディネート</a:t>
            </a:r>
            <a:endParaRPr lang="en-US" sz="1300" dirty="0"/>
          </a:p>
        </p:txBody>
      </p:sp>
      <p:sp>
        <p:nvSpPr>
          <p:cNvPr id="14" name="Text 12"/>
          <p:cNvSpPr txBox="1"/>
          <p:nvPr/>
        </p:nvSpPr>
        <p:spPr>
          <a:xfrm>
            <a:off x="685800" y="4681728"/>
            <a:ext cx="1600200" cy="329184"/>
          </a:xfrm>
          <a:prstGeom prst="rect">
            <a:avLst/>
          </a:prstGeom>
          <a:noFill/>
          <a:ln/>
        </p:spPr>
        <p:txBody>
          <a:bodyPr wrap="square" lIns="0" tIns="0" rIns="0" bIns="0" rtlCol="0" anchor="ctr"/>
          <a:lstStyle/>
          <a:p>
            <a:pPr indent="0" marL="0">
              <a:buNone/>
            </a:pPr>
            <a:r>
              <a:rPr lang="en-US" sz="1150" spc="100" kern="0" dirty="0">
                <a:solidFill>
                  <a:srgbClr val="C9A86A"/>
                </a:solidFill>
                <a:latin typeface="Yu Gothic" pitchFamily="34" charset="0"/>
                <a:ea typeface="Yu Gothic" pitchFamily="34" charset="-122"/>
                <a:cs typeface="Yu Gothic" pitchFamily="34" charset="-120"/>
              </a:rPr>
              <a:t>販売チャネル</a:t>
            </a:r>
            <a:endParaRPr lang="en-US" sz="1150" dirty="0"/>
          </a:p>
        </p:txBody>
      </p:sp>
      <p:sp>
        <p:nvSpPr>
          <p:cNvPr id="15" name="Text 13"/>
          <p:cNvSpPr txBox="1"/>
          <p:nvPr/>
        </p:nvSpPr>
        <p:spPr>
          <a:xfrm>
            <a:off x="2560320" y="4645152"/>
            <a:ext cx="4983480" cy="402336"/>
          </a:xfrm>
          <a:prstGeom prst="rect">
            <a:avLst/>
          </a:prstGeom>
          <a:noFill/>
          <a:ln/>
        </p:spPr>
        <p:txBody>
          <a:bodyPr wrap="square" lIns="0" tIns="0" rIns="0" bIns="0" rtlCol="0" anchor="ctr"/>
          <a:lstStyle/>
          <a:p>
            <a:pPr indent="0" marL="0">
              <a:buNone/>
            </a:pPr>
            <a:r>
              <a:rPr lang="en-US" sz="1300" dirty="0">
                <a:solidFill>
                  <a:srgbClr val="F5F0E8"/>
                </a:solidFill>
                <a:latin typeface="Yu Gothic" pitchFamily="34" charset="0"/>
                <a:ea typeface="Yu Gothic" pitchFamily="34" charset="-122"/>
                <a:cs typeface="Yu Gothic" pitchFamily="34" charset="-120"/>
              </a:rPr>
              <a:t>GetYourGuide（B2C）／ 日本旅行「Miyabi」（インバウンド B2B）</a:t>
            </a:r>
            <a:endParaRPr lang="en-US" sz="1300" dirty="0"/>
          </a:p>
        </p:txBody>
      </p:sp>
      <p:pic>
        <p:nvPicPr>
          <p:cNvPr id="16" name="Image 0" descr="/home/user/bushido-dev/deck/assets/ph-square.png">    </p:cNvPr>
          <p:cNvPicPr>
            <a:picLocks noChangeAspect="1"/>
          </p:cNvPicPr>
          <p:nvPr/>
        </p:nvPicPr>
        <p:blipFill>
          <a:blip r:embed="rId2"/>
          <a:stretch>
            <a:fillRect/>
          </a:stretch>
        </p:blipFill>
        <p:spPr>
          <a:xfrm>
            <a:off x="7863840" y="1627632"/>
            <a:ext cx="3639312" cy="3639312"/>
          </a:xfrm>
          <a:prstGeom prst="rect">
            <a:avLst/>
          </a:prstGeom>
        </p:spPr>
      </p:pic>
      <p:sp>
        <p:nvSpPr>
          <p:cNvPr id="17" name="Text 14"/>
          <p:cNvSpPr txBox="1"/>
          <p:nvPr/>
        </p:nvSpPr>
        <p:spPr>
          <a:xfrm>
            <a:off x="7863840" y="5376672"/>
            <a:ext cx="3639312" cy="237744"/>
          </a:xfrm>
          <a:prstGeom prst="rect">
            <a:avLst/>
          </a:prstGeom>
          <a:noFill/>
          <a:ln/>
        </p:spPr>
        <p:txBody>
          <a:bodyPr wrap="square" lIns="0" tIns="0" rIns="0" bIns="0" rtlCol="0" anchor="ctr"/>
          <a:lstStyle/>
          <a:p>
            <a:pPr algn="ctr" indent="0" marL="0">
              <a:buNone/>
            </a:pPr>
            <a:r>
              <a:rPr lang="en-US" sz="950" dirty="0">
                <a:solidFill>
                  <a:srgbClr val="77716A"/>
                </a:solidFill>
                <a:latin typeface="Yu Gothic" pitchFamily="34" charset="0"/>
                <a:ea typeface="Yu Gothic" pitchFamily="34" charset="-122"/>
                <a:cs typeface="Yu Gothic" pitchFamily="34" charset="-120"/>
              </a:rPr>
              <a:t>※活動風景のお写真に差し替え</a:t>
            </a:r>
            <a:endParaRPr lang="en-US" sz="950" dirty="0"/>
          </a:p>
        </p:txBody>
      </p:sp>
      <p:sp>
        <p:nvSpPr>
          <p:cNvPr id="18" name="Text 15"/>
          <p:cNvSpPr txBox="1"/>
          <p:nvPr/>
        </p:nvSpPr>
        <p:spPr>
          <a:xfrm>
            <a:off x="685800" y="5532120"/>
            <a:ext cx="6858000" cy="548640"/>
          </a:xfrm>
          <a:prstGeom prst="rect">
            <a:avLst/>
          </a:prstGeom>
          <a:noFill/>
          <a:ln/>
        </p:spPr>
        <p:txBody>
          <a:bodyPr wrap="square" lIns="0" tIns="0" rIns="0" bIns="0" rtlCol="0" anchor="ctr"/>
          <a:lstStyle/>
          <a:p>
            <a:pPr indent="0" marL="0">
              <a:lnSpc>
                <a:spcPts val="2000"/>
              </a:lnSpc>
              <a:buNone/>
            </a:pPr>
            <a:r>
              <a:rPr lang="en-US" sz="1200" dirty="0">
                <a:solidFill>
                  <a:srgbClr val="A29B8E"/>
                </a:solidFill>
                <a:latin typeface="Yu Gothic" pitchFamily="34" charset="0"/>
                <a:ea typeface="Yu Gothic" pitchFamily="34" charset="-122"/>
                <a:cs typeface="Yu Gothic" pitchFamily="34" charset="-120"/>
              </a:rPr>
              <a:t>名古屋・愛知の道場、寺社、職人の方々と直接お付き合いしながら、体験を一つずつ組み立てています。</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75488"/>
            <a:ext cx="7315200" cy="256032"/>
          </a:xfrm>
          <a:prstGeom prst="rect">
            <a:avLst/>
          </a:prstGeom>
          <a:noFill/>
          <a:ln/>
        </p:spPr>
        <p:txBody>
          <a:bodyPr wrap="square" lIns="0" tIns="0" rIns="0" bIns="0" rtlCol="0" anchor="ctr"/>
          <a:lstStyle/>
          <a:p>
            <a:pPr indent="0" marL="0">
              <a:buNone/>
            </a:pPr>
            <a:r>
              <a:rPr lang="en-US" sz="1050" spc="300" kern="0" dirty="0">
                <a:solidFill>
                  <a:srgbClr val="8B7340"/>
                </a:solidFill>
                <a:latin typeface="Calibri" pitchFamily="34" charset="0"/>
                <a:ea typeface="Calibri" pitchFamily="34" charset="-122"/>
                <a:cs typeface="Calibri" pitchFamily="34" charset="-120"/>
              </a:rPr>
              <a:t>EXPERIENCES</a:t>
            </a:r>
            <a:endParaRPr lang="en-US" sz="1050" dirty="0"/>
          </a:p>
        </p:txBody>
      </p:sp>
      <p:sp>
        <p:nvSpPr>
          <p:cNvPr id="3" name="Text 1"/>
          <p:cNvSpPr txBox="1"/>
          <p:nvPr/>
        </p:nvSpPr>
        <p:spPr>
          <a:xfrm>
            <a:off x="685800" y="768096"/>
            <a:ext cx="9144000" cy="566928"/>
          </a:xfrm>
          <a:prstGeom prst="rect">
            <a:avLst/>
          </a:prstGeom>
          <a:noFill/>
          <a:ln/>
        </p:spPr>
        <p:txBody>
          <a:bodyPr wrap="square" lIns="0" tIns="0" rIns="0" bIns="0" rtlCol="0" anchor="ctr"/>
          <a:lstStyle/>
          <a:p>
            <a:pPr indent="0" marL="0">
              <a:buNone/>
            </a:pPr>
            <a:r>
              <a:rPr lang="en-US" sz="3000" b="1" dirty="0">
                <a:solidFill>
                  <a:srgbClr val="F5F0E8"/>
                </a:solidFill>
                <a:latin typeface="Yu Mincho" pitchFamily="34" charset="0"/>
                <a:ea typeface="Yu Mincho" pitchFamily="34" charset="-122"/>
                <a:cs typeface="Yu Mincho" pitchFamily="34" charset="-120"/>
              </a:rPr>
              <a:t>ご提供している体験</a:t>
            </a:r>
            <a:endParaRPr lang="en-US" sz="3000" dirty="0"/>
          </a:p>
        </p:txBody>
      </p:sp>
      <p:sp>
        <p:nvSpPr>
          <p:cNvPr id="4" name="Shape 2"/>
          <p:cNvSpPr/>
          <p:nvPr/>
        </p:nvSpPr>
        <p:spPr>
          <a:xfrm>
            <a:off x="685800" y="1572768"/>
            <a:ext cx="3364992" cy="1965960"/>
          </a:xfrm>
          <a:prstGeom prst="rect">
            <a:avLst/>
          </a:prstGeom>
          <a:solidFill>
            <a:srgbClr val="1B1914"/>
          </a:solidFill>
          <a:ln w="9525">
            <a:solidFill>
              <a:srgbClr val="C9A86A">
                <a:alpha val="28000"/>
              </a:srgbClr>
            </a:solidFill>
            <a:prstDash val="solid"/>
          </a:ln>
        </p:spPr>
      </p:sp>
      <p:sp>
        <p:nvSpPr>
          <p:cNvPr id="5" name="Shape 3"/>
          <p:cNvSpPr/>
          <p:nvPr/>
        </p:nvSpPr>
        <p:spPr>
          <a:xfrm>
            <a:off x="960120" y="1865376"/>
            <a:ext cx="658368" cy="658368"/>
          </a:xfrm>
          <a:prstGeom prst="ellipse">
            <a:avLst/>
          </a:prstGeom>
          <a:solidFill>
            <a:srgbClr val="0A0A0A"/>
          </a:solidFill>
          <a:ln w="12700">
            <a:solidFill>
              <a:srgbClr val="C9A86A"/>
            </a:solidFill>
            <a:prstDash val="solid"/>
          </a:ln>
        </p:spPr>
      </p:sp>
      <p:sp>
        <p:nvSpPr>
          <p:cNvPr id="6" name="Text 4"/>
          <p:cNvSpPr txBox="1"/>
          <p:nvPr/>
        </p:nvSpPr>
        <p:spPr>
          <a:xfrm>
            <a:off x="960120" y="1865376"/>
            <a:ext cx="658368" cy="658368"/>
          </a:xfrm>
          <a:prstGeom prst="rect">
            <a:avLst/>
          </a:prstGeom>
          <a:noFill/>
          <a:ln/>
        </p:spPr>
        <p:txBody>
          <a:bodyPr wrap="square" lIns="0" tIns="0" rIns="0" bIns="0" rtlCol="0" anchor="ctr"/>
          <a:lstStyle/>
          <a:p>
            <a:pPr algn="ctr" indent="0" marL="0">
              <a:buNone/>
            </a:pPr>
            <a:r>
              <a:rPr lang="en-US" sz="2100" dirty="0">
                <a:solidFill>
                  <a:srgbClr val="C9A86A"/>
                </a:solidFill>
                <a:latin typeface="Yu Mincho" pitchFamily="34" charset="0"/>
                <a:ea typeface="Yu Mincho" pitchFamily="34" charset="-122"/>
                <a:cs typeface="Yu Mincho" pitchFamily="34" charset="-120"/>
              </a:rPr>
              <a:t>弓</a:t>
            </a:r>
            <a:endParaRPr lang="en-US" sz="2100" dirty="0"/>
          </a:p>
        </p:txBody>
      </p:sp>
      <p:sp>
        <p:nvSpPr>
          <p:cNvPr id="7" name="Text 5"/>
          <p:cNvSpPr txBox="1"/>
          <p:nvPr/>
        </p:nvSpPr>
        <p:spPr>
          <a:xfrm>
            <a:off x="1746504" y="1956816"/>
            <a:ext cx="2066544" cy="384048"/>
          </a:xfrm>
          <a:prstGeom prst="rect">
            <a:avLst/>
          </a:prstGeom>
          <a:noFill/>
          <a:ln/>
        </p:spPr>
        <p:txBody>
          <a:bodyPr wrap="square" lIns="0" tIns="0" rIns="0" bIns="0" rtlCol="0" anchor="ctr"/>
          <a:lstStyle/>
          <a:p>
            <a:pPr indent="0" marL="0">
              <a:buNone/>
            </a:pPr>
            <a:r>
              <a:rPr lang="en-US" sz="1600" b="1" dirty="0">
                <a:solidFill>
                  <a:srgbClr val="E2C98A"/>
                </a:solidFill>
                <a:latin typeface="Yu Mincho" pitchFamily="34" charset="0"/>
                <a:ea typeface="Yu Mincho" pitchFamily="34" charset="-122"/>
                <a:cs typeface="Yu Mincho" pitchFamily="34" charset="-120"/>
              </a:rPr>
              <a:t>弓道</a:t>
            </a:r>
            <a:endParaRPr lang="en-US" sz="1600" dirty="0"/>
          </a:p>
        </p:txBody>
      </p:sp>
      <p:sp>
        <p:nvSpPr>
          <p:cNvPr id="8" name="Text 6"/>
          <p:cNvSpPr txBox="1"/>
          <p:nvPr/>
        </p:nvSpPr>
        <p:spPr>
          <a:xfrm>
            <a:off x="960120" y="2706624"/>
            <a:ext cx="2816352" cy="658368"/>
          </a:xfrm>
          <a:prstGeom prst="rect">
            <a:avLst/>
          </a:prstGeom>
          <a:noFill/>
          <a:ln/>
        </p:spPr>
        <p:txBody>
          <a:bodyPr wrap="square" lIns="0" tIns="0" rIns="0" bIns="0" rtlCol="0" anchor="ctr"/>
          <a:lstStyle/>
          <a:p>
            <a:pPr indent="0" marL="0">
              <a:lnSpc>
                <a:spcPts val="1700"/>
              </a:lnSpc>
              <a:buNone/>
            </a:pPr>
            <a:r>
              <a:rPr lang="en-US" sz="1150" dirty="0">
                <a:solidFill>
                  <a:srgbClr val="A29B8E"/>
                </a:solidFill>
                <a:latin typeface="Yu Gothic" pitchFamily="34" charset="0"/>
                <a:ea typeface="Yu Gothic" pitchFamily="34" charset="-122"/>
                <a:cs typeface="Yu Gothic" pitchFamily="34" charset="-120"/>
              </a:rPr>
              <a:t>射法八節を通じて自分の軸を整える。名古屋の道場での本格体験。</a:t>
            </a:r>
            <a:endParaRPr lang="en-US" sz="1150" dirty="0"/>
          </a:p>
        </p:txBody>
      </p:sp>
      <p:sp>
        <p:nvSpPr>
          <p:cNvPr id="9" name="Shape 7"/>
          <p:cNvSpPr/>
          <p:nvPr/>
        </p:nvSpPr>
        <p:spPr>
          <a:xfrm>
            <a:off x="4498848" y="1572768"/>
            <a:ext cx="3364992" cy="1965960"/>
          </a:xfrm>
          <a:prstGeom prst="rect">
            <a:avLst/>
          </a:prstGeom>
          <a:solidFill>
            <a:srgbClr val="1B1914"/>
          </a:solidFill>
          <a:ln w="9525">
            <a:solidFill>
              <a:srgbClr val="C9A86A">
                <a:alpha val="28000"/>
              </a:srgbClr>
            </a:solidFill>
            <a:prstDash val="solid"/>
          </a:ln>
        </p:spPr>
      </p:sp>
      <p:sp>
        <p:nvSpPr>
          <p:cNvPr id="10" name="Shape 8"/>
          <p:cNvSpPr/>
          <p:nvPr/>
        </p:nvSpPr>
        <p:spPr>
          <a:xfrm>
            <a:off x="4773168" y="1865376"/>
            <a:ext cx="658368" cy="658368"/>
          </a:xfrm>
          <a:prstGeom prst="ellipse">
            <a:avLst/>
          </a:prstGeom>
          <a:solidFill>
            <a:srgbClr val="0A0A0A"/>
          </a:solidFill>
          <a:ln w="12700">
            <a:solidFill>
              <a:srgbClr val="C9A86A"/>
            </a:solidFill>
            <a:prstDash val="solid"/>
          </a:ln>
        </p:spPr>
      </p:sp>
      <p:sp>
        <p:nvSpPr>
          <p:cNvPr id="11" name="Text 9"/>
          <p:cNvSpPr txBox="1"/>
          <p:nvPr/>
        </p:nvSpPr>
        <p:spPr>
          <a:xfrm>
            <a:off x="4773168" y="1865376"/>
            <a:ext cx="658368" cy="658368"/>
          </a:xfrm>
          <a:prstGeom prst="rect">
            <a:avLst/>
          </a:prstGeom>
          <a:noFill/>
          <a:ln/>
        </p:spPr>
        <p:txBody>
          <a:bodyPr wrap="square" lIns="0" tIns="0" rIns="0" bIns="0" rtlCol="0" anchor="ctr"/>
          <a:lstStyle/>
          <a:p>
            <a:pPr algn="ctr" indent="0" marL="0">
              <a:buNone/>
            </a:pPr>
            <a:r>
              <a:rPr lang="en-US" sz="2100" dirty="0">
                <a:solidFill>
                  <a:srgbClr val="C9A86A"/>
                </a:solidFill>
                <a:latin typeface="Yu Mincho" pitchFamily="34" charset="0"/>
                <a:ea typeface="Yu Mincho" pitchFamily="34" charset="-122"/>
                <a:cs typeface="Yu Mincho" pitchFamily="34" charset="-120"/>
              </a:rPr>
              <a:t>茶</a:t>
            </a:r>
            <a:endParaRPr lang="en-US" sz="2100" dirty="0"/>
          </a:p>
        </p:txBody>
      </p:sp>
      <p:sp>
        <p:nvSpPr>
          <p:cNvPr id="12" name="Text 10"/>
          <p:cNvSpPr txBox="1"/>
          <p:nvPr/>
        </p:nvSpPr>
        <p:spPr>
          <a:xfrm>
            <a:off x="5559552" y="1956816"/>
            <a:ext cx="2066544" cy="384048"/>
          </a:xfrm>
          <a:prstGeom prst="rect">
            <a:avLst/>
          </a:prstGeom>
          <a:noFill/>
          <a:ln/>
        </p:spPr>
        <p:txBody>
          <a:bodyPr wrap="square" lIns="0" tIns="0" rIns="0" bIns="0" rtlCol="0" anchor="ctr"/>
          <a:lstStyle/>
          <a:p>
            <a:pPr indent="0" marL="0">
              <a:buNone/>
            </a:pPr>
            <a:r>
              <a:rPr lang="en-US" sz="1600" b="1" dirty="0">
                <a:solidFill>
                  <a:srgbClr val="E2C98A"/>
                </a:solidFill>
                <a:latin typeface="Yu Mincho" pitchFamily="34" charset="0"/>
                <a:ea typeface="Yu Mincho" pitchFamily="34" charset="-122"/>
                <a:cs typeface="Yu Mincho" pitchFamily="34" charset="-120"/>
              </a:rPr>
              <a:t>茶道</a:t>
            </a:r>
            <a:endParaRPr lang="en-US" sz="1600" dirty="0"/>
          </a:p>
        </p:txBody>
      </p:sp>
      <p:sp>
        <p:nvSpPr>
          <p:cNvPr id="13" name="Text 11"/>
          <p:cNvSpPr txBox="1"/>
          <p:nvPr/>
        </p:nvSpPr>
        <p:spPr>
          <a:xfrm>
            <a:off x="4773168" y="2706624"/>
            <a:ext cx="2816352" cy="658368"/>
          </a:xfrm>
          <a:prstGeom prst="rect">
            <a:avLst/>
          </a:prstGeom>
          <a:noFill/>
          <a:ln/>
        </p:spPr>
        <p:txBody>
          <a:bodyPr wrap="square" lIns="0" tIns="0" rIns="0" bIns="0" rtlCol="0" anchor="ctr"/>
          <a:lstStyle/>
          <a:p>
            <a:pPr indent="0" marL="0">
              <a:lnSpc>
                <a:spcPts val="1700"/>
              </a:lnSpc>
              <a:buNone/>
            </a:pPr>
            <a:r>
              <a:rPr lang="en-US" sz="1150" dirty="0">
                <a:solidFill>
                  <a:srgbClr val="A29B8E"/>
                </a:solidFill>
                <a:latin typeface="Yu Gothic" pitchFamily="34" charset="0"/>
                <a:ea typeface="Yu Gothic" pitchFamily="34" charset="-122"/>
                <a:cs typeface="Yu Gothic" pitchFamily="34" charset="-120"/>
              </a:rPr>
              <a:t>一服の茶に宿る「一期一会」。静けさと所作を味わう時間。</a:t>
            </a:r>
            <a:endParaRPr lang="en-US" sz="1150" dirty="0"/>
          </a:p>
        </p:txBody>
      </p:sp>
      <p:sp>
        <p:nvSpPr>
          <p:cNvPr id="14" name="Shape 12"/>
          <p:cNvSpPr/>
          <p:nvPr/>
        </p:nvSpPr>
        <p:spPr>
          <a:xfrm>
            <a:off x="8311896" y="1572768"/>
            <a:ext cx="3364992" cy="1965960"/>
          </a:xfrm>
          <a:prstGeom prst="rect">
            <a:avLst/>
          </a:prstGeom>
          <a:solidFill>
            <a:srgbClr val="1B1914"/>
          </a:solidFill>
          <a:ln w="9525">
            <a:solidFill>
              <a:srgbClr val="C9A86A">
                <a:alpha val="28000"/>
              </a:srgbClr>
            </a:solidFill>
            <a:prstDash val="solid"/>
          </a:ln>
        </p:spPr>
      </p:sp>
      <p:sp>
        <p:nvSpPr>
          <p:cNvPr id="15" name="Shape 13"/>
          <p:cNvSpPr/>
          <p:nvPr/>
        </p:nvSpPr>
        <p:spPr>
          <a:xfrm>
            <a:off x="8586216" y="1865376"/>
            <a:ext cx="658368" cy="658368"/>
          </a:xfrm>
          <a:prstGeom prst="ellipse">
            <a:avLst/>
          </a:prstGeom>
          <a:solidFill>
            <a:srgbClr val="0A0A0A"/>
          </a:solidFill>
          <a:ln w="12700">
            <a:solidFill>
              <a:srgbClr val="C9A86A"/>
            </a:solidFill>
            <a:prstDash val="solid"/>
          </a:ln>
        </p:spPr>
      </p:sp>
      <p:sp>
        <p:nvSpPr>
          <p:cNvPr id="16" name="Text 14"/>
          <p:cNvSpPr txBox="1"/>
          <p:nvPr/>
        </p:nvSpPr>
        <p:spPr>
          <a:xfrm>
            <a:off x="8586216" y="1865376"/>
            <a:ext cx="658368" cy="658368"/>
          </a:xfrm>
          <a:prstGeom prst="rect">
            <a:avLst/>
          </a:prstGeom>
          <a:noFill/>
          <a:ln/>
        </p:spPr>
        <p:txBody>
          <a:bodyPr wrap="square" lIns="0" tIns="0" rIns="0" bIns="0" rtlCol="0" anchor="ctr"/>
          <a:lstStyle/>
          <a:p>
            <a:pPr algn="ctr" indent="0" marL="0">
              <a:buNone/>
            </a:pPr>
            <a:r>
              <a:rPr lang="en-US" sz="2100" dirty="0">
                <a:solidFill>
                  <a:srgbClr val="C9A86A"/>
                </a:solidFill>
                <a:latin typeface="Yu Mincho" pitchFamily="34" charset="0"/>
                <a:ea typeface="Yu Mincho" pitchFamily="34" charset="-122"/>
                <a:cs typeface="Yu Mincho" pitchFamily="34" charset="-120"/>
              </a:rPr>
              <a:t>書</a:t>
            </a:r>
            <a:endParaRPr lang="en-US" sz="2100" dirty="0"/>
          </a:p>
        </p:txBody>
      </p:sp>
      <p:sp>
        <p:nvSpPr>
          <p:cNvPr id="17" name="Text 15"/>
          <p:cNvSpPr txBox="1"/>
          <p:nvPr/>
        </p:nvSpPr>
        <p:spPr>
          <a:xfrm>
            <a:off x="9372600" y="1956816"/>
            <a:ext cx="2066544" cy="384048"/>
          </a:xfrm>
          <a:prstGeom prst="rect">
            <a:avLst/>
          </a:prstGeom>
          <a:noFill/>
          <a:ln/>
        </p:spPr>
        <p:txBody>
          <a:bodyPr wrap="square" lIns="0" tIns="0" rIns="0" bIns="0" rtlCol="0" anchor="ctr"/>
          <a:lstStyle/>
          <a:p>
            <a:pPr indent="0" marL="0">
              <a:buNone/>
            </a:pPr>
            <a:r>
              <a:rPr lang="en-US" sz="1600" b="1" dirty="0">
                <a:solidFill>
                  <a:srgbClr val="E2C98A"/>
                </a:solidFill>
                <a:latin typeface="Yu Mincho" pitchFamily="34" charset="0"/>
                <a:ea typeface="Yu Mincho" pitchFamily="34" charset="-122"/>
                <a:cs typeface="Yu Mincho" pitchFamily="34" charset="-120"/>
              </a:rPr>
              <a:t>書道</a:t>
            </a:r>
            <a:endParaRPr lang="en-US" sz="1600" dirty="0"/>
          </a:p>
        </p:txBody>
      </p:sp>
      <p:sp>
        <p:nvSpPr>
          <p:cNvPr id="18" name="Text 16"/>
          <p:cNvSpPr txBox="1"/>
          <p:nvPr/>
        </p:nvSpPr>
        <p:spPr>
          <a:xfrm>
            <a:off x="8586216" y="2706624"/>
            <a:ext cx="2816352" cy="658368"/>
          </a:xfrm>
          <a:prstGeom prst="rect">
            <a:avLst/>
          </a:prstGeom>
          <a:noFill/>
          <a:ln/>
        </p:spPr>
        <p:txBody>
          <a:bodyPr wrap="square" lIns="0" tIns="0" rIns="0" bIns="0" rtlCol="0" anchor="ctr"/>
          <a:lstStyle/>
          <a:p>
            <a:pPr indent="0" marL="0">
              <a:lnSpc>
                <a:spcPts val="1700"/>
              </a:lnSpc>
              <a:buNone/>
            </a:pPr>
            <a:r>
              <a:rPr lang="en-US" sz="1150" dirty="0">
                <a:solidFill>
                  <a:srgbClr val="A29B8E"/>
                </a:solidFill>
                <a:latin typeface="Yu Gothic" pitchFamily="34" charset="0"/>
                <a:ea typeface="Yu Gothic" pitchFamily="34" charset="-122"/>
                <a:cs typeface="Yu Gothic" pitchFamily="34" charset="-120"/>
              </a:rPr>
              <a:t>呼吸と筆先が一致する感覚。一文字に心を込める体験。</a:t>
            </a:r>
            <a:endParaRPr lang="en-US" sz="1150" dirty="0"/>
          </a:p>
        </p:txBody>
      </p:sp>
      <p:sp>
        <p:nvSpPr>
          <p:cNvPr id="19" name="Shape 17"/>
          <p:cNvSpPr/>
          <p:nvPr/>
        </p:nvSpPr>
        <p:spPr>
          <a:xfrm>
            <a:off x="685800" y="3831336"/>
            <a:ext cx="3364992" cy="1965960"/>
          </a:xfrm>
          <a:prstGeom prst="rect">
            <a:avLst/>
          </a:prstGeom>
          <a:solidFill>
            <a:srgbClr val="1B1914"/>
          </a:solidFill>
          <a:ln w="9525">
            <a:solidFill>
              <a:srgbClr val="C9A86A">
                <a:alpha val="28000"/>
              </a:srgbClr>
            </a:solidFill>
            <a:prstDash val="solid"/>
          </a:ln>
        </p:spPr>
      </p:sp>
      <p:sp>
        <p:nvSpPr>
          <p:cNvPr id="20" name="Shape 18"/>
          <p:cNvSpPr/>
          <p:nvPr/>
        </p:nvSpPr>
        <p:spPr>
          <a:xfrm>
            <a:off x="960120" y="4123944"/>
            <a:ext cx="658368" cy="658368"/>
          </a:xfrm>
          <a:prstGeom prst="ellipse">
            <a:avLst/>
          </a:prstGeom>
          <a:solidFill>
            <a:srgbClr val="0A0A0A"/>
          </a:solidFill>
          <a:ln w="12700">
            <a:solidFill>
              <a:srgbClr val="C9A86A"/>
            </a:solidFill>
            <a:prstDash val="solid"/>
          </a:ln>
        </p:spPr>
      </p:sp>
      <p:sp>
        <p:nvSpPr>
          <p:cNvPr id="21" name="Text 19"/>
          <p:cNvSpPr txBox="1"/>
          <p:nvPr/>
        </p:nvSpPr>
        <p:spPr>
          <a:xfrm>
            <a:off x="960120" y="4123944"/>
            <a:ext cx="658368" cy="658368"/>
          </a:xfrm>
          <a:prstGeom prst="rect">
            <a:avLst/>
          </a:prstGeom>
          <a:noFill/>
          <a:ln/>
        </p:spPr>
        <p:txBody>
          <a:bodyPr wrap="square" lIns="0" tIns="0" rIns="0" bIns="0" rtlCol="0" anchor="ctr"/>
          <a:lstStyle/>
          <a:p>
            <a:pPr algn="ctr" indent="0" marL="0">
              <a:buNone/>
            </a:pPr>
            <a:r>
              <a:rPr lang="en-US" sz="2100" dirty="0">
                <a:solidFill>
                  <a:srgbClr val="C9A86A"/>
                </a:solidFill>
                <a:latin typeface="Yu Mincho" pitchFamily="34" charset="0"/>
                <a:ea typeface="Yu Mincho" pitchFamily="34" charset="-122"/>
                <a:cs typeface="Yu Mincho" pitchFamily="34" charset="-120"/>
              </a:rPr>
              <a:t>装</a:t>
            </a:r>
            <a:endParaRPr lang="en-US" sz="2100" dirty="0"/>
          </a:p>
        </p:txBody>
      </p:sp>
      <p:sp>
        <p:nvSpPr>
          <p:cNvPr id="22" name="Text 20"/>
          <p:cNvSpPr txBox="1"/>
          <p:nvPr/>
        </p:nvSpPr>
        <p:spPr>
          <a:xfrm>
            <a:off x="1746504" y="4215384"/>
            <a:ext cx="2066544" cy="384048"/>
          </a:xfrm>
          <a:prstGeom prst="rect">
            <a:avLst/>
          </a:prstGeom>
          <a:noFill/>
          <a:ln/>
        </p:spPr>
        <p:txBody>
          <a:bodyPr wrap="square" lIns="0" tIns="0" rIns="0" bIns="0" rtlCol="0" anchor="ctr"/>
          <a:lstStyle/>
          <a:p>
            <a:pPr indent="0" marL="0">
              <a:buNone/>
            </a:pPr>
            <a:r>
              <a:rPr lang="en-US" sz="1600" b="1" dirty="0">
                <a:solidFill>
                  <a:srgbClr val="E2C98A"/>
                </a:solidFill>
                <a:latin typeface="Yu Mincho" pitchFamily="34" charset="0"/>
                <a:ea typeface="Yu Mincho" pitchFamily="34" charset="-122"/>
                <a:cs typeface="Yu Mincho" pitchFamily="34" charset="-120"/>
              </a:rPr>
              <a:t>着物・侍体験</a:t>
            </a:r>
            <a:endParaRPr lang="en-US" sz="1600" dirty="0"/>
          </a:p>
        </p:txBody>
      </p:sp>
      <p:sp>
        <p:nvSpPr>
          <p:cNvPr id="23" name="Text 21"/>
          <p:cNvSpPr txBox="1"/>
          <p:nvPr/>
        </p:nvSpPr>
        <p:spPr>
          <a:xfrm>
            <a:off x="960120" y="4965192"/>
            <a:ext cx="2816352" cy="658368"/>
          </a:xfrm>
          <a:prstGeom prst="rect">
            <a:avLst/>
          </a:prstGeom>
          <a:noFill/>
          <a:ln/>
        </p:spPr>
        <p:txBody>
          <a:bodyPr wrap="square" lIns="0" tIns="0" rIns="0" bIns="0" rtlCol="0" anchor="ctr"/>
          <a:lstStyle/>
          <a:p>
            <a:pPr indent="0" marL="0">
              <a:lnSpc>
                <a:spcPts val="1700"/>
              </a:lnSpc>
              <a:buNone/>
            </a:pPr>
            <a:r>
              <a:rPr lang="en-US" sz="1150" dirty="0">
                <a:solidFill>
                  <a:srgbClr val="A29B8E"/>
                </a:solidFill>
                <a:latin typeface="Yu Gothic" pitchFamily="34" charset="0"/>
                <a:ea typeface="Yu Gothic" pitchFamily="34" charset="-122"/>
                <a:cs typeface="Yu Gothic" pitchFamily="34" charset="-120"/>
              </a:rPr>
              <a:t>装いから所作が変わる。武士の佇まいを身体で知る。</a:t>
            </a:r>
            <a:endParaRPr lang="en-US" sz="1150" dirty="0"/>
          </a:p>
        </p:txBody>
      </p:sp>
      <p:sp>
        <p:nvSpPr>
          <p:cNvPr id="24" name="Shape 22"/>
          <p:cNvSpPr/>
          <p:nvPr/>
        </p:nvSpPr>
        <p:spPr>
          <a:xfrm>
            <a:off x="4498848" y="3831336"/>
            <a:ext cx="3364992" cy="1965960"/>
          </a:xfrm>
          <a:prstGeom prst="rect">
            <a:avLst/>
          </a:prstGeom>
          <a:solidFill>
            <a:srgbClr val="1B1914"/>
          </a:solidFill>
          <a:ln w="9525">
            <a:solidFill>
              <a:srgbClr val="C9A86A">
                <a:alpha val="28000"/>
              </a:srgbClr>
            </a:solidFill>
            <a:prstDash val="solid"/>
          </a:ln>
        </p:spPr>
      </p:sp>
      <p:sp>
        <p:nvSpPr>
          <p:cNvPr id="25" name="Shape 23"/>
          <p:cNvSpPr/>
          <p:nvPr/>
        </p:nvSpPr>
        <p:spPr>
          <a:xfrm>
            <a:off x="4773168" y="4123944"/>
            <a:ext cx="658368" cy="658368"/>
          </a:xfrm>
          <a:prstGeom prst="ellipse">
            <a:avLst/>
          </a:prstGeom>
          <a:solidFill>
            <a:srgbClr val="0A0A0A"/>
          </a:solidFill>
          <a:ln w="12700">
            <a:solidFill>
              <a:srgbClr val="C9A86A"/>
            </a:solidFill>
            <a:prstDash val="solid"/>
          </a:ln>
        </p:spPr>
      </p:sp>
      <p:sp>
        <p:nvSpPr>
          <p:cNvPr id="26" name="Text 24"/>
          <p:cNvSpPr txBox="1"/>
          <p:nvPr/>
        </p:nvSpPr>
        <p:spPr>
          <a:xfrm>
            <a:off x="4773168" y="4123944"/>
            <a:ext cx="658368" cy="658368"/>
          </a:xfrm>
          <a:prstGeom prst="rect">
            <a:avLst/>
          </a:prstGeom>
          <a:noFill/>
          <a:ln/>
        </p:spPr>
        <p:txBody>
          <a:bodyPr wrap="square" lIns="0" tIns="0" rIns="0" bIns="0" rtlCol="0" anchor="ctr"/>
          <a:lstStyle/>
          <a:p>
            <a:pPr algn="ctr" indent="0" marL="0">
              <a:buNone/>
            </a:pPr>
            <a:r>
              <a:rPr lang="en-US" sz="2100" dirty="0">
                <a:solidFill>
                  <a:srgbClr val="C9A86A"/>
                </a:solidFill>
                <a:latin typeface="Yu Mincho" pitchFamily="34" charset="0"/>
                <a:ea typeface="Yu Mincho" pitchFamily="34" charset="-122"/>
                <a:cs typeface="Yu Mincho" pitchFamily="34" charset="-120"/>
              </a:rPr>
              <a:t>社</a:t>
            </a:r>
            <a:endParaRPr lang="en-US" sz="2100" dirty="0"/>
          </a:p>
        </p:txBody>
      </p:sp>
      <p:sp>
        <p:nvSpPr>
          <p:cNvPr id="27" name="Text 25"/>
          <p:cNvSpPr txBox="1"/>
          <p:nvPr/>
        </p:nvSpPr>
        <p:spPr>
          <a:xfrm>
            <a:off x="5559552" y="4215384"/>
            <a:ext cx="2066544" cy="384048"/>
          </a:xfrm>
          <a:prstGeom prst="rect">
            <a:avLst/>
          </a:prstGeom>
          <a:noFill/>
          <a:ln/>
        </p:spPr>
        <p:txBody>
          <a:bodyPr wrap="square" lIns="0" tIns="0" rIns="0" bIns="0" rtlCol="0" anchor="ctr"/>
          <a:lstStyle/>
          <a:p>
            <a:pPr indent="0" marL="0">
              <a:buNone/>
            </a:pPr>
            <a:r>
              <a:rPr lang="en-US" sz="1600" b="1" dirty="0">
                <a:solidFill>
                  <a:srgbClr val="E2C98A"/>
                </a:solidFill>
                <a:latin typeface="Yu Mincho" pitchFamily="34" charset="0"/>
                <a:ea typeface="Yu Mincho" pitchFamily="34" charset="-122"/>
                <a:cs typeface="Yu Mincho" pitchFamily="34" charset="-120"/>
              </a:rPr>
              <a:t>寺社・熱田神宮</a:t>
            </a:r>
            <a:endParaRPr lang="en-US" sz="1600" dirty="0"/>
          </a:p>
        </p:txBody>
      </p:sp>
      <p:sp>
        <p:nvSpPr>
          <p:cNvPr id="28" name="Text 26"/>
          <p:cNvSpPr txBox="1"/>
          <p:nvPr/>
        </p:nvSpPr>
        <p:spPr>
          <a:xfrm>
            <a:off x="4773168" y="4965192"/>
            <a:ext cx="2816352" cy="658368"/>
          </a:xfrm>
          <a:prstGeom prst="rect">
            <a:avLst/>
          </a:prstGeom>
          <a:noFill/>
          <a:ln/>
        </p:spPr>
        <p:txBody>
          <a:bodyPr wrap="square" lIns="0" tIns="0" rIns="0" bIns="0" rtlCol="0" anchor="ctr"/>
          <a:lstStyle/>
          <a:p>
            <a:pPr indent="0" marL="0">
              <a:lnSpc>
                <a:spcPts val="1700"/>
              </a:lnSpc>
              <a:buNone/>
            </a:pPr>
            <a:r>
              <a:rPr lang="en-US" sz="1150" dirty="0">
                <a:solidFill>
                  <a:srgbClr val="A29B8E"/>
                </a:solidFill>
                <a:latin typeface="Yu Gothic" pitchFamily="34" charset="0"/>
                <a:ea typeface="Yu Gothic" pitchFamily="34" charset="-122"/>
                <a:cs typeface="Yu Gothic" pitchFamily="34" charset="-120"/>
              </a:rPr>
              <a:t>名古屋の信仰の中心地を、文脈とともに歩く。</a:t>
            </a:r>
            <a:endParaRPr lang="en-US" sz="1150" dirty="0"/>
          </a:p>
        </p:txBody>
      </p:sp>
      <p:sp>
        <p:nvSpPr>
          <p:cNvPr id="29" name="Shape 27"/>
          <p:cNvSpPr/>
          <p:nvPr/>
        </p:nvSpPr>
        <p:spPr>
          <a:xfrm>
            <a:off x="8311896" y="3831336"/>
            <a:ext cx="3364992" cy="1965960"/>
          </a:xfrm>
          <a:prstGeom prst="rect">
            <a:avLst/>
          </a:prstGeom>
          <a:solidFill>
            <a:srgbClr val="1B1914"/>
          </a:solidFill>
          <a:ln w="9525">
            <a:solidFill>
              <a:srgbClr val="C9A86A">
                <a:alpha val="28000"/>
              </a:srgbClr>
            </a:solidFill>
            <a:prstDash val="solid"/>
          </a:ln>
        </p:spPr>
      </p:sp>
      <p:sp>
        <p:nvSpPr>
          <p:cNvPr id="30" name="Shape 28"/>
          <p:cNvSpPr/>
          <p:nvPr/>
        </p:nvSpPr>
        <p:spPr>
          <a:xfrm>
            <a:off x="8586216" y="4123944"/>
            <a:ext cx="658368" cy="658368"/>
          </a:xfrm>
          <a:prstGeom prst="ellipse">
            <a:avLst/>
          </a:prstGeom>
          <a:solidFill>
            <a:srgbClr val="0A0A0A"/>
          </a:solidFill>
          <a:ln w="12700">
            <a:solidFill>
              <a:srgbClr val="C9A86A"/>
            </a:solidFill>
            <a:prstDash val="solid"/>
          </a:ln>
        </p:spPr>
      </p:sp>
      <p:sp>
        <p:nvSpPr>
          <p:cNvPr id="31" name="Text 29"/>
          <p:cNvSpPr txBox="1"/>
          <p:nvPr/>
        </p:nvSpPr>
        <p:spPr>
          <a:xfrm>
            <a:off x="8586216" y="4123944"/>
            <a:ext cx="658368" cy="658368"/>
          </a:xfrm>
          <a:prstGeom prst="rect">
            <a:avLst/>
          </a:prstGeom>
          <a:noFill/>
          <a:ln/>
        </p:spPr>
        <p:txBody>
          <a:bodyPr wrap="square" lIns="0" tIns="0" rIns="0" bIns="0" rtlCol="0" anchor="ctr"/>
          <a:lstStyle/>
          <a:p>
            <a:pPr algn="ctr" indent="0" marL="0">
              <a:buNone/>
            </a:pPr>
            <a:r>
              <a:rPr lang="en-US" sz="2100" dirty="0">
                <a:solidFill>
                  <a:srgbClr val="C9A86A"/>
                </a:solidFill>
                <a:latin typeface="Yu Mincho" pitchFamily="34" charset="0"/>
                <a:ea typeface="Yu Mincho" pitchFamily="34" charset="-122"/>
                <a:cs typeface="Yu Mincho" pitchFamily="34" charset="-120"/>
              </a:rPr>
              <a:t>静</a:t>
            </a:r>
            <a:endParaRPr lang="en-US" sz="2100" dirty="0"/>
          </a:p>
        </p:txBody>
      </p:sp>
      <p:sp>
        <p:nvSpPr>
          <p:cNvPr id="32" name="Text 30"/>
          <p:cNvSpPr txBox="1"/>
          <p:nvPr/>
        </p:nvSpPr>
        <p:spPr>
          <a:xfrm>
            <a:off x="9372600" y="4215384"/>
            <a:ext cx="2066544" cy="384048"/>
          </a:xfrm>
          <a:prstGeom prst="rect">
            <a:avLst/>
          </a:prstGeom>
          <a:noFill/>
          <a:ln/>
        </p:spPr>
        <p:txBody>
          <a:bodyPr wrap="square" lIns="0" tIns="0" rIns="0" bIns="0" rtlCol="0" anchor="ctr"/>
          <a:lstStyle/>
          <a:p>
            <a:pPr indent="0" marL="0">
              <a:buNone/>
            </a:pPr>
            <a:r>
              <a:rPr lang="en-US" sz="1600" b="1" dirty="0">
                <a:solidFill>
                  <a:srgbClr val="E2C98A"/>
                </a:solidFill>
                <a:latin typeface="Yu Mincho" pitchFamily="34" charset="0"/>
                <a:ea typeface="Yu Mincho" pitchFamily="34" charset="-122"/>
                <a:cs typeface="Yu Mincho" pitchFamily="34" charset="-120"/>
              </a:rPr>
              <a:t>リトリート</a:t>
            </a:r>
            <a:endParaRPr lang="en-US" sz="1600" dirty="0"/>
          </a:p>
        </p:txBody>
      </p:sp>
      <p:sp>
        <p:nvSpPr>
          <p:cNvPr id="33" name="Text 31"/>
          <p:cNvSpPr txBox="1"/>
          <p:nvPr/>
        </p:nvSpPr>
        <p:spPr>
          <a:xfrm>
            <a:off x="8586216" y="4965192"/>
            <a:ext cx="2816352" cy="658368"/>
          </a:xfrm>
          <a:prstGeom prst="rect">
            <a:avLst/>
          </a:prstGeom>
          <a:noFill/>
          <a:ln/>
        </p:spPr>
        <p:txBody>
          <a:bodyPr wrap="square" lIns="0" tIns="0" rIns="0" bIns="0" rtlCol="0" anchor="ctr"/>
          <a:lstStyle/>
          <a:p>
            <a:pPr indent="0" marL="0">
              <a:lnSpc>
                <a:spcPts val="1700"/>
              </a:lnSpc>
              <a:buNone/>
            </a:pPr>
            <a:r>
              <a:rPr lang="en-US" sz="1150" dirty="0">
                <a:solidFill>
                  <a:srgbClr val="A29B8E"/>
                </a:solidFill>
                <a:latin typeface="Yu Gothic" pitchFamily="34" charset="0"/>
                <a:ea typeface="Yu Gothic" pitchFamily="34" charset="-122"/>
                <a:cs typeface="Yu Gothic" pitchFamily="34" charset="-120"/>
              </a:rPr>
              <a:t>武士道哲学に根ざした少人数のプライベート・リトリート。</a:t>
            </a:r>
            <a:endParaRPr lang="en-US" sz="1150" dirty="0"/>
          </a:p>
        </p:txBody>
      </p:sp>
      <p:sp>
        <p:nvSpPr>
          <p:cNvPr id="34" name="Text 32"/>
          <p:cNvSpPr txBox="1"/>
          <p:nvPr/>
        </p:nvSpPr>
        <p:spPr>
          <a:xfrm>
            <a:off x="685800" y="5870448"/>
            <a:ext cx="10817352" cy="310896"/>
          </a:xfrm>
          <a:prstGeom prst="rect">
            <a:avLst/>
          </a:prstGeom>
          <a:noFill/>
          <a:ln/>
        </p:spPr>
        <p:txBody>
          <a:bodyPr wrap="square" lIns="0" tIns="0" rIns="0" bIns="0" rtlCol="0" anchor="ctr"/>
          <a:lstStyle/>
          <a:p>
            <a:pPr indent="0" marL="0">
              <a:buNone/>
            </a:pPr>
            <a:r>
              <a:rPr lang="en-US" sz="1200" dirty="0">
                <a:solidFill>
                  <a:srgbClr val="8B7340"/>
                </a:solidFill>
                <a:latin typeface="Yu Gothic" pitchFamily="34" charset="0"/>
                <a:ea typeface="Yu Gothic" pitchFamily="34" charset="-122"/>
                <a:cs typeface="Yu Gothic" pitchFamily="34" charset="-120"/>
              </a:rPr>
              <a:t>いずれも英語でご案内しています。ご要望に応じて組み合わせ・貸切での設計も承ります。</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user/bushido-dev/deck/assets/ph-tall.png">    </p:cNvPr>
          <p:cNvPicPr>
            <a:picLocks noChangeAspect="1"/>
          </p:cNvPicPr>
          <p:nvPr/>
        </p:nvPicPr>
        <p:blipFill>
          <a:blip r:embed="rId2"/>
          <a:stretch>
            <a:fillRect/>
          </a:stretch>
        </p:blipFill>
        <p:spPr>
          <a:xfrm>
            <a:off x="6446520" y="0"/>
            <a:ext cx="5742432" cy="6858000"/>
          </a:xfrm>
          <a:prstGeom prst="rect">
            <a:avLst/>
          </a:prstGeom>
        </p:spPr>
      </p:pic>
      <p:sp>
        <p:nvSpPr>
          <p:cNvPr id="3" name="Text 0"/>
          <p:cNvSpPr txBox="1"/>
          <p:nvPr/>
        </p:nvSpPr>
        <p:spPr>
          <a:xfrm>
            <a:off x="685800" y="960120"/>
            <a:ext cx="5349240" cy="256032"/>
          </a:xfrm>
          <a:prstGeom prst="rect">
            <a:avLst/>
          </a:prstGeom>
          <a:noFill/>
          <a:ln/>
        </p:spPr>
        <p:txBody>
          <a:bodyPr wrap="square" lIns="0" tIns="0" rIns="0" bIns="0" rtlCol="0" anchor="ctr"/>
          <a:lstStyle/>
          <a:p>
            <a:pPr indent="0" marL="0">
              <a:buNone/>
            </a:pPr>
            <a:r>
              <a:rPr lang="en-US" sz="1050" spc="300" kern="0" dirty="0">
                <a:solidFill>
                  <a:srgbClr val="8B7340"/>
                </a:solidFill>
                <a:latin typeface="Calibri" pitchFamily="34" charset="0"/>
                <a:ea typeface="Calibri" pitchFamily="34" charset="-122"/>
                <a:cs typeface="Calibri" pitchFamily="34" charset="-120"/>
              </a:rPr>
              <a:t>FLAGSHIP PROGRAM</a:t>
            </a:r>
            <a:endParaRPr lang="en-US" sz="1050" dirty="0"/>
          </a:p>
        </p:txBody>
      </p:sp>
      <p:sp>
        <p:nvSpPr>
          <p:cNvPr id="4" name="Text 1"/>
          <p:cNvSpPr txBox="1"/>
          <p:nvPr/>
        </p:nvSpPr>
        <p:spPr>
          <a:xfrm>
            <a:off x="685800" y="1298448"/>
            <a:ext cx="5349240" cy="502920"/>
          </a:xfrm>
          <a:prstGeom prst="rect">
            <a:avLst/>
          </a:prstGeom>
          <a:noFill/>
          <a:ln/>
        </p:spPr>
        <p:txBody>
          <a:bodyPr wrap="square" lIns="0" tIns="0" rIns="0" bIns="0" rtlCol="0" anchor="ctr"/>
          <a:lstStyle/>
          <a:p>
            <a:pPr indent="0" marL="0">
              <a:buNone/>
            </a:pPr>
            <a:r>
              <a:rPr lang="en-US" sz="2300" b="1" dirty="0">
                <a:solidFill>
                  <a:srgbClr val="C9A86A"/>
                </a:solidFill>
                <a:latin typeface="Cambria" pitchFamily="34" charset="0"/>
                <a:ea typeface="Cambria" pitchFamily="34" charset="-122"/>
                <a:cs typeface="Cambria" pitchFamily="34" charset="-120"/>
              </a:rPr>
              <a:t>Kyudo — The Way of the Bow</a:t>
            </a:r>
            <a:endParaRPr lang="en-US" sz="2300" dirty="0"/>
          </a:p>
        </p:txBody>
      </p:sp>
      <p:sp>
        <p:nvSpPr>
          <p:cNvPr id="5" name="Text 2"/>
          <p:cNvSpPr txBox="1"/>
          <p:nvPr/>
        </p:nvSpPr>
        <p:spPr>
          <a:xfrm>
            <a:off x="685800" y="1883664"/>
            <a:ext cx="5349240" cy="402336"/>
          </a:xfrm>
          <a:prstGeom prst="rect">
            <a:avLst/>
          </a:prstGeom>
          <a:noFill/>
          <a:ln/>
        </p:spPr>
        <p:txBody>
          <a:bodyPr wrap="square" lIns="0" tIns="0" rIns="0" bIns="0" rtlCol="0" anchor="ctr"/>
          <a:lstStyle/>
          <a:p>
            <a:pPr indent="0" marL="0">
              <a:buNone/>
            </a:pPr>
            <a:r>
              <a:rPr lang="en-US" sz="1900" b="1" dirty="0">
                <a:solidFill>
                  <a:srgbClr val="F5F0E8"/>
                </a:solidFill>
                <a:latin typeface="Yu Mincho" pitchFamily="34" charset="0"/>
                <a:ea typeface="Yu Mincho" pitchFamily="34" charset="-122"/>
                <a:cs typeface="Yu Mincho" pitchFamily="34" charset="-120"/>
              </a:rPr>
              <a:t>名古屋・弓道体験</a:t>
            </a:r>
            <a:endParaRPr lang="en-US" sz="1900" dirty="0"/>
          </a:p>
        </p:txBody>
      </p:sp>
      <p:sp>
        <p:nvSpPr>
          <p:cNvPr id="6" name="Text 3"/>
          <p:cNvSpPr txBox="1"/>
          <p:nvPr/>
        </p:nvSpPr>
        <p:spPr>
          <a:xfrm>
            <a:off x="685800" y="2542032"/>
            <a:ext cx="5349240" cy="914400"/>
          </a:xfrm>
          <a:prstGeom prst="rect">
            <a:avLst/>
          </a:prstGeom>
          <a:noFill/>
          <a:ln/>
        </p:spPr>
        <p:txBody>
          <a:bodyPr wrap="square" lIns="0" tIns="0" rIns="0" bIns="0" rtlCol="0" anchor="ctr"/>
          <a:lstStyle/>
          <a:p>
            <a:pPr indent="0" marL="0">
              <a:lnSpc>
                <a:spcPts val="2100"/>
              </a:lnSpc>
              <a:buNone/>
            </a:pPr>
            <a:r>
              <a:rPr lang="en-US" sz="1300" dirty="0">
                <a:solidFill>
                  <a:srgbClr val="A29B8E"/>
                </a:solidFill>
                <a:latin typeface="Yu Gothic" pitchFamily="34" charset="0"/>
                <a:ea typeface="Yu Gothic" pitchFamily="34" charset="-122"/>
                <a:cs typeface="Yu Gothic" pitchFamily="34" charset="-120"/>
              </a:rPr>
              <a:t>見学でも、演武の鑑賞でもありません。地元の弓道家が日々稽古する道場で、ご自身が弓を引きます。射法八節に沿って、一射に向き合っていただく90分です。</a:t>
            </a:r>
            <a:endParaRPr lang="en-US" sz="1300" dirty="0"/>
          </a:p>
        </p:txBody>
      </p:sp>
      <p:sp>
        <p:nvSpPr>
          <p:cNvPr id="7" name="Text 4"/>
          <p:cNvSpPr txBox="1"/>
          <p:nvPr/>
        </p:nvSpPr>
        <p:spPr>
          <a:xfrm>
            <a:off x="685800" y="3657600"/>
            <a:ext cx="5349240" cy="1234440"/>
          </a:xfrm>
          <a:prstGeom prst="rect">
            <a:avLst/>
          </a:prstGeom>
          <a:noFill/>
          <a:ln/>
        </p:spPr>
        <p:txBody>
          <a:bodyPr wrap="square" lIns="0" tIns="0" rIns="0" bIns="0" rtlCol="0" anchor="ctr"/>
          <a:lstStyle/>
          <a:p>
            <a:pPr marL="342900" indent="-342900">
              <a:lnSpc>
                <a:spcPts val="2000"/>
              </a:lnSpc>
              <a:spcAft>
                <a:spcPts val="900"/>
              </a:spcAft>
              <a:buSzPct val="100000"/>
              <a:buChar char="•"/>
            </a:pPr>
            <a:r>
              <a:rPr lang="en-US" sz="1250" dirty="0">
                <a:solidFill>
                  <a:srgbClr val="F5F0E8"/>
                </a:solidFill>
                <a:latin typeface="Yu Gothic" pitchFamily="34" charset="0"/>
                <a:ea typeface="Yu Gothic" pitchFamily="34" charset="-122"/>
                <a:cs typeface="Yu Gothic" pitchFamily="34" charset="-120"/>
              </a:rPr>
              <a:t>2026年8月12日　日本旅行「Miyabi」にて販売開始</a:t>
            </a:r>
            <a:endParaRPr lang="en-US" sz="1250" dirty="0"/>
          </a:p>
          <a:p>
            <a:pPr marL="342900" indent="-342900">
              <a:lnSpc>
                <a:spcPts val="2000"/>
              </a:lnSpc>
              <a:spcAft>
                <a:spcPts val="900"/>
              </a:spcAft>
              <a:buSzPct val="100000"/>
              <a:buChar char="•"/>
            </a:pPr>
            <a:r>
              <a:rPr lang="en-US" sz="1250" dirty="0">
                <a:solidFill>
                  <a:srgbClr val="F5F0E8"/>
                </a:solidFill>
                <a:latin typeface="Yu Gothic" pitchFamily="34" charset="0"/>
                <a:ea typeface="Yu Gothic" pitchFamily="34" charset="-122"/>
                <a:cs typeface="Yu Gothic" pitchFamily="34" charset="-120"/>
              </a:rPr>
              <a:t>世界の旅行会社様へ B2B で提供（英語対応）</a:t>
            </a:r>
            <a:endParaRPr lang="en-US" sz="1250" dirty="0"/>
          </a:p>
          <a:p>
            <a:pPr marL="342900" indent="-342900">
              <a:lnSpc>
                <a:spcPts val="2000"/>
              </a:lnSpc>
              <a:spcAft>
                <a:spcPts val="900"/>
              </a:spcAft>
              <a:buSzPct val="100000"/>
              <a:buChar char="•"/>
            </a:pPr>
            <a:r>
              <a:rPr lang="en-US" sz="1250" dirty="0">
                <a:solidFill>
                  <a:srgbClr val="F5F0E8"/>
                </a:solidFill>
                <a:latin typeface="Yu Gothic" pitchFamily="34" charset="0"/>
                <a:ea typeface="Yu Gothic" pitchFamily="34" charset="-122"/>
                <a:cs typeface="Yu Gothic" pitchFamily="34" charset="-120"/>
              </a:rPr>
              <a:t>少人数プライベート形式。初めての方でも引けます</a:t>
            </a:r>
            <a:endParaRPr lang="en-US" sz="1250" dirty="0"/>
          </a:p>
        </p:txBody>
      </p:sp>
      <p:sp>
        <p:nvSpPr>
          <p:cNvPr id="8" name="Text 5"/>
          <p:cNvSpPr txBox="1"/>
          <p:nvPr/>
        </p:nvSpPr>
        <p:spPr>
          <a:xfrm>
            <a:off x="685800" y="5138928"/>
            <a:ext cx="5349240" cy="548640"/>
          </a:xfrm>
          <a:prstGeom prst="rect">
            <a:avLst/>
          </a:prstGeom>
          <a:noFill/>
          <a:ln/>
        </p:spPr>
        <p:txBody>
          <a:bodyPr wrap="square" lIns="0" tIns="0" rIns="0" bIns="0" rtlCol="0" anchor="ctr"/>
          <a:lstStyle/>
          <a:p>
            <a:pPr indent="0" marL="0">
              <a:lnSpc>
                <a:spcPts val="2000"/>
              </a:lnSpc>
              <a:buNone/>
            </a:pPr>
            <a:r>
              <a:rPr lang="en-US" sz="1300" i="1" dirty="0">
                <a:solidFill>
                  <a:srgbClr val="E2C98A"/>
                </a:solidFill>
                <a:latin typeface="Cambria" pitchFamily="34" charset="0"/>
                <a:ea typeface="Cambria" pitchFamily="34" charset="-122"/>
                <a:cs typeface="Cambria" pitchFamily="34" charset="-120"/>
              </a:rPr>
              <a:t>The bow is not just a tool. It reflects the condition of the person who holds it.</a:t>
            </a:r>
            <a:endParaRPr lang="en-US" sz="1300" dirty="0"/>
          </a:p>
        </p:txBody>
      </p:sp>
      <p:sp>
        <p:nvSpPr>
          <p:cNvPr id="9" name="Text 6"/>
          <p:cNvSpPr txBox="1"/>
          <p:nvPr/>
        </p:nvSpPr>
        <p:spPr>
          <a:xfrm>
            <a:off x="6446520" y="6291072"/>
            <a:ext cx="5742432" cy="237744"/>
          </a:xfrm>
          <a:prstGeom prst="rect">
            <a:avLst/>
          </a:prstGeom>
          <a:noFill/>
          <a:ln/>
        </p:spPr>
        <p:txBody>
          <a:bodyPr wrap="square" lIns="0" tIns="0" rIns="0" bIns="0" rtlCol="0" anchor="ctr"/>
          <a:lstStyle/>
          <a:p>
            <a:pPr algn="ctr" indent="0" marL="0">
              <a:buNone/>
            </a:pPr>
            <a:r>
              <a:rPr lang="en-US" sz="950" dirty="0">
                <a:solidFill>
                  <a:srgbClr val="77716A"/>
                </a:solidFill>
                <a:latin typeface="Yu Gothic" pitchFamily="34" charset="0"/>
                <a:ea typeface="Yu Gothic" pitchFamily="34" charset="-122"/>
                <a:cs typeface="Yu Gothic" pitchFamily="34" charset="-120"/>
              </a:rPr>
              <a:t>※弓道体験のお写真に差し替え</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75488"/>
            <a:ext cx="7315200" cy="256032"/>
          </a:xfrm>
          <a:prstGeom prst="rect">
            <a:avLst/>
          </a:prstGeom>
          <a:noFill/>
          <a:ln/>
        </p:spPr>
        <p:txBody>
          <a:bodyPr wrap="square" lIns="0" tIns="0" rIns="0" bIns="0" rtlCol="0" anchor="ctr"/>
          <a:lstStyle/>
          <a:p>
            <a:pPr indent="0" marL="0">
              <a:buNone/>
            </a:pPr>
            <a:r>
              <a:rPr lang="en-US" sz="1050" spc="300" kern="0" dirty="0">
                <a:solidFill>
                  <a:srgbClr val="8B7340"/>
                </a:solidFill>
                <a:latin typeface="Calibri" pitchFamily="34" charset="0"/>
                <a:ea typeface="Calibri" pitchFamily="34" charset="-122"/>
                <a:cs typeface="Calibri" pitchFamily="34" charset="-120"/>
              </a:rPr>
              <a:t>MILESTONES</a:t>
            </a:r>
            <a:endParaRPr lang="en-US" sz="1050" dirty="0"/>
          </a:p>
        </p:txBody>
      </p:sp>
      <p:sp>
        <p:nvSpPr>
          <p:cNvPr id="3" name="Text 1"/>
          <p:cNvSpPr txBox="1"/>
          <p:nvPr/>
        </p:nvSpPr>
        <p:spPr>
          <a:xfrm>
            <a:off x="685800" y="768096"/>
            <a:ext cx="9144000" cy="566928"/>
          </a:xfrm>
          <a:prstGeom prst="rect">
            <a:avLst/>
          </a:prstGeom>
          <a:noFill/>
          <a:ln/>
        </p:spPr>
        <p:txBody>
          <a:bodyPr wrap="square" lIns="0" tIns="0" rIns="0" bIns="0" rtlCol="0" anchor="ctr"/>
          <a:lstStyle/>
          <a:p>
            <a:pPr indent="0" marL="0">
              <a:buNone/>
            </a:pPr>
            <a:r>
              <a:rPr lang="en-US" sz="3000" b="1" dirty="0">
                <a:solidFill>
                  <a:srgbClr val="F5F0E8"/>
                </a:solidFill>
                <a:latin typeface="Yu Mincho" pitchFamily="34" charset="0"/>
                <a:ea typeface="Yu Mincho" pitchFamily="34" charset="-122"/>
                <a:cs typeface="Yu Mincho" pitchFamily="34" charset="-120"/>
              </a:rPr>
              <a:t>これまでの歩み</a:t>
            </a:r>
            <a:endParaRPr lang="en-US" sz="3000" dirty="0"/>
          </a:p>
        </p:txBody>
      </p:sp>
      <p:sp>
        <p:nvSpPr>
          <p:cNvPr id="4" name="Shape 2"/>
          <p:cNvSpPr/>
          <p:nvPr/>
        </p:nvSpPr>
        <p:spPr>
          <a:xfrm>
            <a:off x="685800" y="1645920"/>
            <a:ext cx="2432304" cy="2651760"/>
          </a:xfrm>
          <a:prstGeom prst="rect">
            <a:avLst/>
          </a:prstGeom>
          <a:solidFill>
            <a:srgbClr val="1B1914"/>
          </a:solidFill>
          <a:ln w="9525">
            <a:solidFill>
              <a:srgbClr val="C9A86A">
                <a:alpha val="28000"/>
              </a:srgbClr>
            </a:solidFill>
            <a:prstDash val="solid"/>
          </a:ln>
        </p:spPr>
      </p:sp>
      <p:sp>
        <p:nvSpPr>
          <p:cNvPr id="5" name="Text 3"/>
          <p:cNvSpPr txBox="1"/>
          <p:nvPr/>
        </p:nvSpPr>
        <p:spPr>
          <a:xfrm>
            <a:off x="941832" y="1883664"/>
            <a:ext cx="1920240" cy="310896"/>
          </a:xfrm>
          <a:prstGeom prst="rect">
            <a:avLst/>
          </a:prstGeom>
          <a:noFill/>
          <a:ln/>
        </p:spPr>
        <p:txBody>
          <a:bodyPr wrap="square" lIns="0" tIns="0" rIns="0" bIns="0" rtlCol="0" anchor="ctr"/>
          <a:lstStyle/>
          <a:p>
            <a:pPr indent="0" marL="0">
              <a:buNone/>
            </a:pPr>
            <a:r>
              <a:rPr lang="en-US" sz="1350" b="1" spc="100" kern="0" dirty="0">
                <a:solidFill>
                  <a:srgbClr val="C9A86A"/>
                </a:solidFill>
                <a:latin typeface="Calibri" pitchFamily="34" charset="0"/>
                <a:ea typeface="Calibri" pitchFamily="34" charset="-122"/>
                <a:cs typeface="Calibri" pitchFamily="34" charset="-120"/>
              </a:rPr>
              <a:t>2023.03</a:t>
            </a:r>
            <a:endParaRPr lang="en-US" sz="1350" dirty="0"/>
          </a:p>
        </p:txBody>
      </p:sp>
      <p:sp>
        <p:nvSpPr>
          <p:cNvPr id="6" name="Text 4"/>
          <p:cNvSpPr txBox="1"/>
          <p:nvPr/>
        </p:nvSpPr>
        <p:spPr>
          <a:xfrm>
            <a:off x="941832" y="2286000"/>
            <a:ext cx="1920240" cy="658368"/>
          </a:xfrm>
          <a:prstGeom prst="rect">
            <a:avLst/>
          </a:prstGeom>
          <a:noFill/>
          <a:ln/>
        </p:spPr>
        <p:txBody>
          <a:bodyPr wrap="square" lIns="0" tIns="0" rIns="0" bIns="0" rtlCol="0" anchor="ctr"/>
          <a:lstStyle/>
          <a:p>
            <a:pPr indent="0" marL="0">
              <a:lnSpc>
                <a:spcPts val="1900"/>
              </a:lnSpc>
              <a:buNone/>
            </a:pPr>
            <a:r>
              <a:rPr lang="en-US" sz="1400" b="1" dirty="0">
                <a:solidFill>
                  <a:srgbClr val="F5F0E8"/>
                </a:solidFill>
                <a:latin typeface="Yu Mincho" pitchFamily="34" charset="0"/>
                <a:ea typeface="Yu Mincho" pitchFamily="34" charset="-122"/>
                <a:cs typeface="Yu Mincho" pitchFamily="34" charset="-120"/>
              </a:rPr>
              <a:t>BUSHIDO 設立</a:t>
            </a:r>
            <a:endParaRPr lang="en-US" sz="1400" dirty="0"/>
          </a:p>
        </p:txBody>
      </p:sp>
      <p:sp>
        <p:nvSpPr>
          <p:cNvPr id="7" name="Text 5"/>
          <p:cNvSpPr txBox="1"/>
          <p:nvPr/>
        </p:nvSpPr>
        <p:spPr>
          <a:xfrm>
            <a:off x="941832" y="3063240"/>
            <a:ext cx="1920240" cy="1005840"/>
          </a:xfrm>
          <a:prstGeom prst="rect">
            <a:avLst/>
          </a:prstGeom>
          <a:noFill/>
          <a:ln/>
        </p:spPr>
        <p:txBody>
          <a:bodyPr wrap="square" lIns="0" tIns="0" rIns="0" bIns="0" rtlCol="0" anchor="ctr"/>
          <a:lstStyle/>
          <a:p>
            <a:pPr indent="0" marL="0">
              <a:lnSpc>
                <a:spcPts val="1600"/>
              </a:lnSpc>
              <a:buNone/>
            </a:pPr>
            <a:r>
              <a:rPr lang="en-US" sz="1100" dirty="0">
                <a:solidFill>
                  <a:srgbClr val="A29B8E"/>
                </a:solidFill>
                <a:latin typeface="Yu Gothic" pitchFamily="34" charset="0"/>
                <a:ea typeface="Yu Gothic" pitchFamily="34" charset="-122"/>
                <a:cs typeface="Yu Gothic" pitchFamily="34" charset="-120"/>
              </a:rPr>
              <a:t>合同会社BUSHIDO を愛知県稲沢市に設立。名古屋を拠点に活動を開始。</a:t>
            </a:r>
            <a:endParaRPr lang="en-US" sz="1100" dirty="0"/>
          </a:p>
        </p:txBody>
      </p:sp>
      <p:sp>
        <p:nvSpPr>
          <p:cNvPr id="8" name="Shape 6"/>
          <p:cNvSpPr/>
          <p:nvPr/>
        </p:nvSpPr>
        <p:spPr>
          <a:xfrm>
            <a:off x="3474720" y="1645920"/>
            <a:ext cx="2432304" cy="2651760"/>
          </a:xfrm>
          <a:prstGeom prst="rect">
            <a:avLst/>
          </a:prstGeom>
          <a:solidFill>
            <a:srgbClr val="1B1914"/>
          </a:solidFill>
          <a:ln w="9525">
            <a:solidFill>
              <a:srgbClr val="C9A86A">
                <a:alpha val="28000"/>
              </a:srgbClr>
            </a:solidFill>
            <a:prstDash val="solid"/>
          </a:ln>
        </p:spPr>
      </p:sp>
      <p:sp>
        <p:nvSpPr>
          <p:cNvPr id="9" name="Text 7"/>
          <p:cNvSpPr txBox="1"/>
          <p:nvPr/>
        </p:nvSpPr>
        <p:spPr>
          <a:xfrm>
            <a:off x="3730752" y="1883664"/>
            <a:ext cx="1920240" cy="310896"/>
          </a:xfrm>
          <a:prstGeom prst="rect">
            <a:avLst/>
          </a:prstGeom>
          <a:noFill/>
          <a:ln/>
        </p:spPr>
        <p:txBody>
          <a:bodyPr wrap="square" lIns="0" tIns="0" rIns="0" bIns="0" rtlCol="0" anchor="ctr"/>
          <a:lstStyle/>
          <a:p>
            <a:pPr indent="0" marL="0">
              <a:buNone/>
            </a:pPr>
            <a:r>
              <a:rPr lang="en-US" sz="1350" b="1" spc="100" kern="0" dirty="0">
                <a:solidFill>
                  <a:srgbClr val="C9A86A"/>
                </a:solidFill>
                <a:latin typeface="Calibri" pitchFamily="34" charset="0"/>
                <a:ea typeface="Calibri" pitchFamily="34" charset="-122"/>
                <a:cs typeface="Calibri" pitchFamily="34" charset="-120"/>
              </a:rPr>
              <a:t>通年</a:t>
            </a:r>
            <a:endParaRPr lang="en-US" sz="1350" dirty="0"/>
          </a:p>
        </p:txBody>
      </p:sp>
      <p:sp>
        <p:nvSpPr>
          <p:cNvPr id="10" name="Text 8"/>
          <p:cNvSpPr txBox="1"/>
          <p:nvPr/>
        </p:nvSpPr>
        <p:spPr>
          <a:xfrm>
            <a:off x="3730752" y="2286000"/>
            <a:ext cx="1920240" cy="658368"/>
          </a:xfrm>
          <a:prstGeom prst="rect">
            <a:avLst/>
          </a:prstGeom>
          <a:noFill/>
          <a:ln/>
        </p:spPr>
        <p:txBody>
          <a:bodyPr wrap="square" lIns="0" tIns="0" rIns="0" bIns="0" rtlCol="0" anchor="ctr"/>
          <a:lstStyle/>
          <a:p>
            <a:pPr indent="0" marL="0">
              <a:lnSpc>
                <a:spcPts val="1900"/>
              </a:lnSpc>
              <a:buNone/>
            </a:pPr>
            <a:r>
              <a:rPr lang="en-US" sz="1400" b="1" dirty="0">
                <a:solidFill>
                  <a:srgbClr val="F5F0E8"/>
                </a:solidFill>
                <a:latin typeface="Yu Mincho" pitchFamily="34" charset="0"/>
                <a:ea typeface="Yu Mincho" pitchFamily="34" charset="-122"/>
                <a:cs typeface="Yu Mincho" pitchFamily="34" charset="-120"/>
              </a:rPr>
              <a:t>GetYourGuide 掲載</a:t>
            </a:r>
            <a:endParaRPr lang="en-US" sz="1400" dirty="0"/>
          </a:p>
        </p:txBody>
      </p:sp>
      <p:sp>
        <p:nvSpPr>
          <p:cNvPr id="11" name="Text 9"/>
          <p:cNvSpPr txBox="1"/>
          <p:nvPr/>
        </p:nvSpPr>
        <p:spPr>
          <a:xfrm>
            <a:off x="3730752" y="3063240"/>
            <a:ext cx="1920240" cy="1005840"/>
          </a:xfrm>
          <a:prstGeom prst="rect">
            <a:avLst/>
          </a:prstGeom>
          <a:noFill/>
          <a:ln/>
        </p:spPr>
        <p:txBody>
          <a:bodyPr wrap="square" lIns="0" tIns="0" rIns="0" bIns="0" rtlCol="0" anchor="ctr"/>
          <a:lstStyle/>
          <a:p>
            <a:pPr indent="0" marL="0">
              <a:lnSpc>
                <a:spcPts val="1600"/>
              </a:lnSpc>
              <a:buNone/>
            </a:pPr>
            <a:r>
              <a:rPr lang="en-US" sz="1100" dirty="0">
                <a:solidFill>
                  <a:srgbClr val="A29B8E"/>
                </a:solidFill>
                <a:latin typeface="Yu Gothic" pitchFamily="34" charset="0"/>
                <a:ea typeface="Yu Gothic" pitchFamily="34" charset="-122"/>
                <a:cs typeface="Yu Gothic" pitchFamily="34" charset="-120"/>
              </a:rPr>
              <a:t>世界最大級の体験予約プラットフォームで個人旅行者へ提供。</a:t>
            </a:r>
            <a:endParaRPr lang="en-US" sz="1100" dirty="0"/>
          </a:p>
        </p:txBody>
      </p:sp>
      <p:sp>
        <p:nvSpPr>
          <p:cNvPr id="12" name="Shape 10"/>
          <p:cNvSpPr/>
          <p:nvPr/>
        </p:nvSpPr>
        <p:spPr>
          <a:xfrm>
            <a:off x="6263640" y="1645920"/>
            <a:ext cx="2432304" cy="2651760"/>
          </a:xfrm>
          <a:prstGeom prst="rect">
            <a:avLst/>
          </a:prstGeom>
          <a:solidFill>
            <a:srgbClr val="1B1914"/>
          </a:solidFill>
          <a:ln w="9525">
            <a:solidFill>
              <a:srgbClr val="C9A86A">
                <a:alpha val="28000"/>
              </a:srgbClr>
            </a:solidFill>
            <a:prstDash val="solid"/>
          </a:ln>
        </p:spPr>
      </p:sp>
      <p:sp>
        <p:nvSpPr>
          <p:cNvPr id="13" name="Text 11"/>
          <p:cNvSpPr txBox="1"/>
          <p:nvPr/>
        </p:nvSpPr>
        <p:spPr>
          <a:xfrm>
            <a:off x="6519672" y="1883664"/>
            <a:ext cx="1920240" cy="310896"/>
          </a:xfrm>
          <a:prstGeom prst="rect">
            <a:avLst/>
          </a:prstGeom>
          <a:noFill/>
          <a:ln/>
        </p:spPr>
        <p:txBody>
          <a:bodyPr wrap="square" lIns="0" tIns="0" rIns="0" bIns="0" rtlCol="0" anchor="ctr"/>
          <a:lstStyle/>
          <a:p>
            <a:pPr indent="0" marL="0">
              <a:buNone/>
            </a:pPr>
            <a:r>
              <a:rPr lang="en-US" sz="1350" b="1" spc="100" kern="0" dirty="0">
                <a:solidFill>
                  <a:srgbClr val="C9A86A"/>
                </a:solidFill>
                <a:latin typeface="Calibri" pitchFamily="34" charset="0"/>
                <a:ea typeface="Calibri" pitchFamily="34" charset="-122"/>
                <a:cs typeface="Calibri" pitchFamily="34" charset="-120"/>
              </a:rPr>
              <a:t>2026.07</a:t>
            </a:r>
            <a:endParaRPr lang="en-US" sz="1350" dirty="0"/>
          </a:p>
        </p:txBody>
      </p:sp>
      <p:sp>
        <p:nvSpPr>
          <p:cNvPr id="14" name="Text 12"/>
          <p:cNvSpPr txBox="1"/>
          <p:nvPr/>
        </p:nvSpPr>
        <p:spPr>
          <a:xfrm>
            <a:off x="6519672" y="2286000"/>
            <a:ext cx="1920240" cy="658368"/>
          </a:xfrm>
          <a:prstGeom prst="rect">
            <a:avLst/>
          </a:prstGeom>
          <a:noFill/>
          <a:ln/>
        </p:spPr>
        <p:txBody>
          <a:bodyPr wrap="square" lIns="0" tIns="0" rIns="0" bIns="0" rtlCol="0" anchor="ctr"/>
          <a:lstStyle/>
          <a:p>
            <a:pPr indent="0" marL="0">
              <a:lnSpc>
                <a:spcPts val="1900"/>
              </a:lnSpc>
              <a:buNone/>
            </a:pPr>
            <a:r>
              <a:rPr lang="en-US" sz="1400" b="1" dirty="0">
                <a:solidFill>
                  <a:srgbClr val="F5F0E8"/>
                </a:solidFill>
                <a:latin typeface="Yu Mincho" pitchFamily="34" charset="0"/>
                <a:ea typeface="Yu Mincho" pitchFamily="34" charset="-122"/>
                <a:cs typeface="Yu Mincho" pitchFamily="34" charset="-120"/>
              </a:rPr>
              <a:t>日本旅行と基本合意</a:t>
            </a:r>
            <a:endParaRPr lang="en-US" sz="1400" dirty="0"/>
          </a:p>
        </p:txBody>
      </p:sp>
      <p:sp>
        <p:nvSpPr>
          <p:cNvPr id="15" name="Text 13"/>
          <p:cNvSpPr txBox="1"/>
          <p:nvPr/>
        </p:nvSpPr>
        <p:spPr>
          <a:xfrm>
            <a:off x="6519672" y="3063240"/>
            <a:ext cx="1920240" cy="1005840"/>
          </a:xfrm>
          <a:prstGeom prst="rect">
            <a:avLst/>
          </a:prstGeom>
          <a:noFill/>
          <a:ln/>
        </p:spPr>
        <p:txBody>
          <a:bodyPr wrap="square" lIns="0" tIns="0" rIns="0" bIns="0" rtlCol="0" anchor="ctr"/>
          <a:lstStyle/>
          <a:p>
            <a:pPr indent="0" marL="0">
              <a:lnSpc>
                <a:spcPts val="1600"/>
              </a:lnSpc>
              <a:buNone/>
            </a:pPr>
            <a:r>
              <a:rPr lang="en-US" sz="1100" dirty="0">
                <a:solidFill>
                  <a:srgbClr val="A29B8E"/>
                </a:solidFill>
                <a:latin typeface="Yu Gothic" pitchFamily="34" charset="0"/>
                <a:ea typeface="Yu Gothic" pitchFamily="34" charset="-122"/>
                <a:cs typeface="Yu Gothic" pitchFamily="34" charset="-120"/>
              </a:rPr>
              <a:t>インバウンド向けBtoB予約基盤「Miyabi」での委託販売について合意。</a:t>
            </a:r>
            <a:endParaRPr lang="en-US" sz="1100" dirty="0"/>
          </a:p>
        </p:txBody>
      </p:sp>
      <p:sp>
        <p:nvSpPr>
          <p:cNvPr id="16" name="Shape 14"/>
          <p:cNvSpPr/>
          <p:nvPr/>
        </p:nvSpPr>
        <p:spPr>
          <a:xfrm>
            <a:off x="9052560" y="1645920"/>
            <a:ext cx="2432304" cy="2651760"/>
          </a:xfrm>
          <a:prstGeom prst="rect">
            <a:avLst/>
          </a:prstGeom>
          <a:solidFill>
            <a:srgbClr val="1B1914"/>
          </a:solidFill>
          <a:ln w="9525">
            <a:solidFill>
              <a:srgbClr val="C9A86A">
                <a:alpha val="28000"/>
              </a:srgbClr>
            </a:solidFill>
            <a:prstDash val="solid"/>
          </a:ln>
        </p:spPr>
      </p:sp>
      <p:sp>
        <p:nvSpPr>
          <p:cNvPr id="17" name="Text 15"/>
          <p:cNvSpPr txBox="1"/>
          <p:nvPr/>
        </p:nvSpPr>
        <p:spPr>
          <a:xfrm>
            <a:off x="9308592" y="1883664"/>
            <a:ext cx="1920240" cy="310896"/>
          </a:xfrm>
          <a:prstGeom prst="rect">
            <a:avLst/>
          </a:prstGeom>
          <a:noFill/>
          <a:ln/>
        </p:spPr>
        <p:txBody>
          <a:bodyPr wrap="square" lIns="0" tIns="0" rIns="0" bIns="0" rtlCol="0" anchor="ctr"/>
          <a:lstStyle/>
          <a:p>
            <a:pPr indent="0" marL="0">
              <a:buNone/>
            </a:pPr>
            <a:r>
              <a:rPr lang="en-US" sz="1350" b="1" spc="100" kern="0" dirty="0">
                <a:solidFill>
                  <a:srgbClr val="C9A86A"/>
                </a:solidFill>
                <a:latin typeface="Calibri" pitchFamily="34" charset="0"/>
                <a:ea typeface="Calibri" pitchFamily="34" charset="-122"/>
                <a:cs typeface="Calibri" pitchFamily="34" charset="-120"/>
              </a:rPr>
              <a:t>2026.08</a:t>
            </a:r>
            <a:endParaRPr lang="en-US" sz="1350" dirty="0"/>
          </a:p>
        </p:txBody>
      </p:sp>
      <p:sp>
        <p:nvSpPr>
          <p:cNvPr id="18" name="Text 16"/>
          <p:cNvSpPr txBox="1"/>
          <p:nvPr/>
        </p:nvSpPr>
        <p:spPr>
          <a:xfrm>
            <a:off x="9308592" y="2286000"/>
            <a:ext cx="1920240" cy="658368"/>
          </a:xfrm>
          <a:prstGeom prst="rect">
            <a:avLst/>
          </a:prstGeom>
          <a:noFill/>
          <a:ln/>
        </p:spPr>
        <p:txBody>
          <a:bodyPr wrap="square" lIns="0" tIns="0" rIns="0" bIns="0" rtlCol="0" anchor="ctr"/>
          <a:lstStyle/>
          <a:p>
            <a:pPr indent="0" marL="0">
              <a:lnSpc>
                <a:spcPts val="1900"/>
              </a:lnSpc>
              <a:buNone/>
            </a:pPr>
            <a:r>
              <a:rPr lang="en-US" sz="1400" b="1" dirty="0">
                <a:solidFill>
                  <a:srgbClr val="F5F0E8"/>
                </a:solidFill>
                <a:latin typeface="Yu Mincho" pitchFamily="34" charset="0"/>
                <a:ea typeface="Yu Mincho" pitchFamily="34" charset="-122"/>
                <a:cs typeface="Yu Mincho" pitchFamily="34" charset="-120"/>
              </a:rPr>
              <a:t>Miyabi 販売開始</a:t>
            </a:r>
            <a:endParaRPr lang="en-US" sz="1400" dirty="0"/>
          </a:p>
        </p:txBody>
      </p:sp>
      <p:sp>
        <p:nvSpPr>
          <p:cNvPr id="19" name="Text 17"/>
          <p:cNvSpPr txBox="1"/>
          <p:nvPr/>
        </p:nvSpPr>
        <p:spPr>
          <a:xfrm>
            <a:off x="9308592" y="3063240"/>
            <a:ext cx="1920240" cy="1005840"/>
          </a:xfrm>
          <a:prstGeom prst="rect">
            <a:avLst/>
          </a:prstGeom>
          <a:noFill/>
          <a:ln/>
        </p:spPr>
        <p:txBody>
          <a:bodyPr wrap="square" lIns="0" tIns="0" rIns="0" bIns="0" rtlCol="0" anchor="ctr"/>
          <a:lstStyle/>
          <a:p>
            <a:pPr indent="0" marL="0">
              <a:lnSpc>
                <a:spcPts val="1600"/>
              </a:lnSpc>
              <a:buNone/>
            </a:pPr>
            <a:r>
              <a:rPr lang="en-US" sz="1100" dirty="0">
                <a:solidFill>
                  <a:srgbClr val="A29B8E"/>
                </a:solidFill>
                <a:latin typeface="Yu Gothic" pitchFamily="34" charset="0"/>
                <a:ea typeface="Yu Gothic" pitchFamily="34" charset="-122"/>
                <a:cs typeface="Yu Gothic" pitchFamily="34" charset="-120"/>
              </a:rPr>
              <a:t>第1弾「Kyudo: The Way of the Bow」を世界の旅行会社へ。</a:t>
            </a:r>
            <a:endParaRPr lang="en-US" sz="1100" dirty="0"/>
          </a:p>
        </p:txBody>
      </p:sp>
      <p:sp>
        <p:nvSpPr>
          <p:cNvPr id="20" name="Shape 18"/>
          <p:cNvSpPr/>
          <p:nvPr/>
        </p:nvSpPr>
        <p:spPr>
          <a:xfrm>
            <a:off x="685800" y="4617720"/>
            <a:ext cx="10817352" cy="1417320"/>
          </a:xfrm>
          <a:prstGeom prst="rect">
            <a:avLst/>
          </a:prstGeom>
          <a:solidFill>
            <a:srgbClr val="1B1914"/>
          </a:solidFill>
          <a:ln w="9525">
            <a:solidFill>
              <a:srgbClr val="C9A86A">
                <a:alpha val="28000"/>
              </a:srgbClr>
            </a:solidFill>
            <a:prstDash val="solid"/>
          </a:ln>
        </p:spPr>
      </p:sp>
      <p:sp>
        <p:nvSpPr>
          <p:cNvPr id="21" name="Shape 19"/>
          <p:cNvSpPr/>
          <p:nvPr/>
        </p:nvSpPr>
        <p:spPr>
          <a:xfrm>
            <a:off x="996696" y="4956048"/>
            <a:ext cx="731520" cy="731520"/>
          </a:xfrm>
          <a:prstGeom prst="ellipse">
            <a:avLst/>
          </a:prstGeom>
          <a:solidFill>
            <a:srgbClr val="0A0A0A"/>
          </a:solidFill>
          <a:ln w="12700">
            <a:solidFill>
              <a:srgbClr val="C9A86A"/>
            </a:solidFill>
            <a:prstDash val="solid"/>
          </a:ln>
        </p:spPr>
      </p:sp>
      <p:sp>
        <p:nvSpPr>
          <p:cNvPr id="22" name="Text 20"/>
          <p:cNvSpPr txBox="1"/>
          <p:nvPr/>
        </p:nvSpPr>
        <p:spPr>
          <a:xfrm>
            <a:off x="996696" y="4956048"/>
            <a:ext cx="731520" cy="731520"/>
          </a:xfrm>
          <a:prstGeom prst="rect">
            <a:avLst/>
          </a:prstGeom>
          <a:noFill/>
          <a:ln/>
        </p:spPr>
        <p:txBody>
          <a:bodyPr wrap="square" lIns="0" tIns="0" rIns="0" bIns="0" rtlCol="0" anchor="ctr"/>
          <a:lstStyle/>
          <a:p>
            <a:pPr algn="ctr" indent="0" marL="0">
              <a:buNone/>
            </a:pPr>
            <a:r>
              <a:rPr lang="en-US" sz="2200" dirty="0">
                <a:solidFill>
                  <a:srgbClr val="C9A86A"/>
                </a:solidFill>
                <a:latin typeface="Yu Mincho" pitchFamily="34" charset="0"/>
                <a:ea typeface="Yu Mincho" pitchFamily="34" charset="-122"/>
                <a:cs typeface="Yu Mincho" pitchFamily="34" charset="-120"/>
              </a:rPr>
              <a:t>展</a:t>
            </a:r>
            <a:endParaRPr lang="en-US" sz="2200" dirty="0"/>
          </a:p>
        </p:txBody>
      </p:sp>
      <p:sp>
        <p:nvSpPr>
          <p:cNvPr id="23" name="Text 21"/>
          <p:cNvSpPr txBox="1"/>
          <p:nvPr/>
        </p:nvSpPr>
        <p:spPr>
          <a:xfrm>
            <a:off x="1965960" y="4937760"/>
            <a:ext cx="8686800" cy="329184"/>
          </a:xfrm>
          <a:prstGeom prst="rect">
            <a:avLst/>
          </a:prstGeom>
          <a:noFill/>
          <a:ln/>
        </p:spPr>
        <p:txBody>
          <a:bodyPr wrap="square" lIns="0" tIns="0" rIns="0" bIns="0" rtlCol="0" anchor="ctr"/>
          <a:lstStyle/>
          <a:p>
            <a:pPr indent="0" marL="0">
              <a:buNone/>
            </a:pPr>
            <a:r>
              <a:rPr lang="en-US" sz="1500" b="1" dirty="0">
                <a:solidFill>
                  <a:srgbClr val="E2C98A"/>
                </a:solidFill>
                <a:latin typeface="Yu Mincho" pitchFamily="34" charset="0"/>
                <a:ea typeface="Yu Mincho" pitchFamily="34" charset="-122"/>
                <a:cs typeface="Yu Mincho" pitchFamily="34" charset="-120"/>
              </a:rPr>
              <a:t>今後の展開</a:t>
            </a:r>
            <a:endParaRPr lang="en-US" sz="1500" dirty="0"/>
          </a:p>
        </p:txBody>
      </p:sp>
      <p:sp>
        <p:nvSpPr>
          <p:cNvPr id="24" name="Text 22"/>
          <p:cNvSpPr txBox="1"/>
          <p:nvPr/>
        </p:nvSpPr>
        <p:spPr>
          <a:xfrm>
            <a:off x="1965960" y="5340096"/>
            <a:ext cx="9217152" cy="566928"/>
          </a:xfrm>
          <a:prstGeom prst="rect">
            <a:avLst/>
          </a:prstGeom>
          <a:noFill/>
          <a:ln/>
        </p:spPr>
        <p:txBody>
          <a:bodyPr wrap="square" lIns="0" tIns="0" rIns="0" bIns="0" rtlCol="0" anchor="ctr"/>
          <a:lstStyle/>
          <a:p>
            <a:pPr indent="0" marL="0">
              <a:lnSpc>
                <a:spcPts val="1800"/>
              </a:lnSpc>
              <a:buNone/>
            </a:pPr>
            <a:r>
              <a:rPr lang="en-US" sz="1200" dirty="0">
                <a:solidFill>
                  <a:srgbClr val="A29B8E"/>
                </a:solidFill>
                <a:latin typeface="Yu Gothic" pitchFamily="34" charset="0"/>
                <a:ea typeface="Yu Gothic" pitchFamily="34" charset="-122"/>
                <a:cs typeface="Yu Gothic" pitchFamily="34" charset="-120"/>
              </a:rPr>
              <a:t>熱田神宮参拝、書道、味噌煮込みうどん、有松絞り、瀬戸焼など、名古屋・愛知の文化資源を組み合わせた体験を順次追加してまいります。</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user/bushido-dev/deck/assets/enso-lg.png">    </p:cNvPr>
          <p:cNvPicPr>
            <a:picLocks noChangeAspect="1"/>
          </p:cNvPicPr>
          <p:nvPr/>
        </p:nvPicPr>
        <p:blipFill>
          <a:blip r:embed="rId2"/>
          <a:stretch>
            <a:fillRect/>
          </a:stretch>
        </p:blipFill>
        <p:spPr>
          <a:xfrm>
            <a:off x="3168396" y="411480"/>
            <a:ext cx="5852160" cy="5852160"/>
          </a:xfrm>
          <a:prstGeom prst="rect">
            <a:avLst/>
          </a:prstGeom>
        </p:spPr>
      </p:pic>
      <p:sp>
        <p:nvSpPr>
          <p:cNvPr id="3" name="Text 0"/>
          <p:cNvSpPr txBox="1"/>
          <p:nvPr/>
        </p:nvSpPr>
        <p:spPr>
          <a:xfrm>
            <a:off x="0" y="566928"/>
            <a:ext cx="12188952" cy="292608"/>
          </a:xfrm>
          <a:prstGeom prst="rect">
            <a:avLst/>
          </a:prstGeom>
          <a:noFill/>
          <a:ln/>
        </p:spPr>
        <p:txBody>
          <a:bodyPr wrap="square" lIns="0" tIns="0" rIns="0" bIns="0" rtlCol="0" anchor="ctr"/>
          <a:lstStyle/>
          <a:p>
            <a:pPr algn="ctr" indent="0" marL="0">
              <a:buNone/>
            </a:pPr>
            <a:r>
              <a:rPr lang="en-US" sz="1150" spc="400" kern="0" dirty="0">
                <a:solidFill>
                  <a:srgbClr val="8B7340"/>
                </a:solidFill>
                <a:latin typeface="Yu Gothic" pitchFamily="34" charset="0"/>
                <a:ea typeface="Yu Gothic" pitchFamily="34" charset="-122"/>
                <a:cs typeface="Yu Gothic" pitchFamily="34" charset="-120"/>
              </a:rPr>
              <a:t>大切にしていること</a:t>
            </a:r>
            <a:endParaRPr lang="en-US" sz="1150" dirty="0"/>
          </a:p>
        </p:txBody>
      </p:sp>
      <p:sp>
        <p:nvSpPr>
          <p:cNvPr id="4" name="Text 1"/>
          <p:cNvSpPr txBox="1"/>
          <p:nvPr/>
        </p:nvSpPr>
        <p:spPr>
          <a:xfrm>
            <a:off x="1463040" y="2194560"/>
            <a:ext cx="9262872" cy="1554480"/>
          </a:xfrm>
          <a:prstGeom prst="rect">
            <a:avLst/>
          </a:prstGeom>
          <a:noFill/>
          <a:ln/>
        </p:spPr>
        <p:txBody>
          <a:bodyPr wrap="square" lIns="0" tIns="0" rIns="0" bIns="0" rtlCol="0" anchor="ctr"/>
          <a:lstStyle/>
          <a:p>
            <a:pPr algn="ctr" indent="0" marL="0">
              <a:lnSpc>
                <a:spcPts val="5200"/>
              </a:lnSpc>
              <a:buNone/>
            </a:pPr>
            <a:r>
              <a:rPr lang="en-US" sz="3200" b="1" dirty="0">
                <a:solidFill>
                  <a:srgbClr val="C9A86A"/>
                </a:solidFill>
                <a:latin typeface="Yu Mincho" pitchFamily="34" charset="0"/>
                <a:ea typeface="Yu Mincho" pitchFamily="34" charset="-122"/>
                <a:cs typeface="Yu Mincho" pitchFamily="34" charset="-120"/>
              </a:rPr>
              <a:t>伝統は、売れる形に合わせて</a:t>
            </a:r>
            <a:endParaRPr lang="en-US" sz="3200" dirty="0"/>
          </a:p>
          <a:p>
            <a:pPr algn="ctr" indent="0" marL="0">
              <a:lnSpc>
                <a:spcPts val="5200"/>
              </a:lnSpc>
              <a:buNone/>
            </a:pPr>
            <a:r>
              <a:rPr lang="en-US" sz="3200" b="1" dirty="0">
                <a:solidFill>
                  <a:srgbClr val="C9A86A"/>
                </a:solidFill>
                <a:latin typeface="Yu Mincho" pitchFamily="34" charset="0"/>
                <a:ea typeface="Yu Mincho" pitchFamily="34" charset="-122"/>
                <a:cs typeface="Yu Mincho" pitchFamily="34" charset="-120"/>
              </a:rPr>
              <a:t>曲げてはいけない。</a:t>
            </a:r>
            <a:endParaRPr lang="en-US" sz="3200" dirty="0"/>
          </a:p>
        </p:txBody>
      </p:sp>
      <p:sp>
        <p:nvSpPr>
          <p:cNvPr id="5" name="Text 2"/>
          <p:cNvSpPr txBox="1"/>
          <p:nvPr/>
        </p:nvSpPr>
        <p:spPr>
          <a:xfrm>
            <a:off x="1463040" y="3931920"/>
            <a:ext cx="9262872" cy="292608"/>
          </a:xfrm>
          <a:prstGeom prst="rect">
            <a:avLst/>
          </a:prstGeom>
          <a:noFill/>
          <a:ln/>
        </p:spPr>
        <p:txBody>
          <a:bodyPr wrap="square" lIns="0" tIns="0" rIns="0" bIns="0" rtlCol="0" anchor="ctr"/>
          <a:lstStyle/>
          <a:p>
            <a:pPr algn="ctr" indent="0" marL="0">
              <a:buNone/>
            </a:pPr>
            <a:r>
              <a:rPr lang="en-US" sz="1200" dirty="0">
                <a:solidFill>
                  <a:srgbClr val="A29B8E"/>
                </a:solidFill>
                <a:latin typeface="Yu Gothic" pitchFamily="34" charset="0"/>
                <a:ea typeface="Yu Gothic" pitchFamily="34" charset="-122"/>
                <a:cs typeface="Yu Gothic" pitchFamily="34" charset="-120"/>
              </a:rPr>
              <a:t>— 竹弓師・永野一翠工房 訪問記録（2026年5月）より</a:t>
            </a:r>
            <a:endParaRPr lang="en-US" sz="1200" dirty="0"/>
          </a:p>
        </p:txBody>
      </p:sp>
      <p:sp>
        <p:nvSpPr>
          <p:cNvPr id="6" name="Text 3"/>
          <p:cNvSpPr txBox="1"/>
          <p:nvPr/>
        </p:nvSpPr>
        <p:spPr>
          <a:xfrm>
            <a:off x="2286000" y="4617720"/>
            <a:ext cx="7616952" cy="822960"/>
          </a:xfrm>
          <a:prstGeom prst="rect">
            <a:avLst/>
          </a:prstGeom>
          <a:noFill/>
          <a:ln/>
        </p:spPr>
        <p:txBody>
          <a:bodyPr wrap="square" lIns="0" tIns="0" rIns="0" bIns="0" rtlCol="0" anchor="ctr"/>
          <a:lstStyle/>
          <a:p>
            <a:pPr algn="ctr" indent="0" marL="0">
              <a:lnSpc>
                <a:spcPts val="2100"/>
              </a:lnSpc>
              <a:buNone/>
            </a:pPr>
            <a:r>
              <a:rPr lang="en-US" sz="1250" dirty="0">
                <a:solidFill>
                  <a:srgbClr val="A29B8E"/>
                </a:solidFill>
                <a:latin typeface="Yu Gothic" pitchFamily="34" charset="0"/>
                <a:ea typeface="Yu Gothic" pitchFamily="34" charset="-122"/>
                <a:cs typeface="Yu Gothic" pitchFamily="34" charset="-120"/>
              </a:rPr>
              <a:t>小笠原流には、流派の名を商売に使ってはならないという掟があります。相手に合わせて教えを曲げないためです。伝統文化を事業として扱う私たちも、この姿勢を事業判断の基準に置いています。</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75488"/>
            <a:ext cx="7315200" cy="256032"/>
          </a:xfrm>
          <a:prstGeom prst="rect">
            <a:avLst/>
          </a:prstGeom>
          <a:noFill/>
          <a:ln/>
        </p:spPr>
        <p:txBody>
          <a:bodyPr wrap="square" lIns="0" tIns="0" rIns="0" bIns="0" rtlCol="0" anchor="ctr"/>
          <a:lstStyle/>
          <a:p>
            <a:pPr indent="0" marL="0">
              <a:buNone/>
            </a:pPr>
            <a:r>
              <a:rPr lang="en-US" sz="1050" spc="300" kern="0" dirty="0">
                <a:solidFill>
                  <a:srgbClr val="8B7340"/>
                </a:solidFill>
                <a:latin typeface="Calibri" pitchFamily="34" charset="0"/>
                <a:ea typeface="Calibri" pitchFamily="34" charset="-122"/>
                <a:cs typeface="Calibri" pitchFamily="34" charset="-120"/>
              </a:rPr>
              <a:t>POSSIBLE COLLABORATION</a:t>
            </a:r>
            <a:endParaRPr lang="en-US" sz="1050" dirty="0"/>
          </a:p>
        </p:txBody>
      </p:sp>
      <p:sp>
        <p:nvSpPr>
          <p:cNvPr id="3" name="Text 1"/>
          <p:cNvSpPr txBox="1"/>
          <p:nvPr/>
        </p:nvSpPr>
        <p:spPr>
          <a:xfrm>
            <a:off x="685800" y="768096"/>
            <a:ext cx="9144000" cy="566928"/>
          </a:xfrm>
          <a:prstGeom prst="rect">
            <a:avLst/>
          </a:prstGeom>
          <a:noFill/>
          <a:ln/>
        </p:spPr>
        <p:txBody>
          <a:bodyPr wrap="square" lIns="0" tIns="0" rIns="0" bIns="0" rtlCol="0" anchor="ctr"/>
          <a:lstStyle/>
          <a:p>
            <a:pPr indent="0" marL="0">
              <a:buNone/>
            </a:pPr>
            <a:r>
              <a:rPr lang="en-US" sz="3000" b="1" dirty="0">
                <a:solidFill>
                  <a:srgbClr val="F5F0E8"/>
                </a:solidFill>
                <a:latin typeface="Yu Mincho" pitchFamily="34" charset="0"/>
                <a:ea typeface="Yu Mincho" pitchFamily="34" charset="-122"/>
                <a:cs typeface="Yu Mincho" pitchFamily="34" charset="-120"/>
              </a:rPr>
              <a:t>PHLIGHT様とご一緒できそうなこと</a:t>
            </a:r>
            <a:endParaRPr lang="en-US" sz="3000" dirty="0"/>
          </a:p>
        </p:txBody>
      </p:sp>
      <p:sp>
        <p:nvSpPr>
          <p:cNvPr id="4" name="Shape 2"/>
          <p:cNvSpPr/>
          <p:nvPr/>
        </p:nvSpPr>
        <p:spPr>
          <a:xfrm>
            <a:off x="685800" y="1572768"/>
            <a:ext cx="5102352" cy="2057400"/>
          </a:xfrm>
          <a:prstGeom prst="rect">
            <a:avLst/>
          </a:prstGeom>
          <a:solidFill>
            <a:srgbClr val="1B1914"/>
          </a:solidFill>
          <a:ln w="9525">
            <a:solidFill>
              <a:srgbClr val="C9A86A">
                <a:alpha val="28000"/>
              </a:srgbClr>
            </a:solidFill>
            <a:prstDash val="solid"/>
          </a:ln>
        </p:spPr>
      </p:sp>
      <p:sp>
        <p:nvSpPr>
          <p:cNvPr id="5" name="Shape 3"/>
          <p:cNvSpPr/>
          <p:nvPr/>
        </p:nvSpPr>
        <p:spPr>
          <a:xfrm>
            <a:off x="996696" y="1901952"/>
            <a:ext cx="713232" cy="713232"/>
          </a:xfrm>
          <a:prstGeom prst="ellipse">
            <a:avLst/>
          </a:prstGeom>
          <a:solidFill>
            <a:srgbClr val="0A0A0A"/>
          </a:solidFill>
          <a:ln w="12700">
            <a:solidFill>
              <a:srgbClr val="C9A86A"/>
            </a:solidFill>
            <a:prstDash val="solid"/>
          </a:ln>
        </p:spPr>
      </p:sp>
      <p:sp>
        <p:nvSpPr>
          <p:cNvPr id="6" name="Text 4"/>
          <p:cNvSpPr txBox="1"/>
          <p:nvPr/>
        </p:nvSpPr>
        <p:spPr>
          <a:xfrm>
            <a:off x="996696" y="1901952"/>
            <a:ext cx="713232" cy="713232"/>
          </a:xfrm>
          <a:prstGeom prst="rect">
            <a:avLst/>
          </a:prstGeom>
          <a:noFill/>
          <a:ln/>
        </p:spPr>
        <p:txBody>
          <a:bodyPr wrap="square" lIns="0" tIns="0" rIns="0" bIns="0" rtlCol="0" anchor="ctr"/>
          <a:lstStyle/>
          <a:p>
            <a:pPr algn="ctr" indent="0" marL="0">
              <a:buNone/>
            </a:pPr>
            <a:r>
              <a:rPr lang="en-US" sz="2200" dirty="0">
                <a:solidFill>
                  <a:srgbClr val="C9A86A"/>
                </a:solidFill>
                <a:latin typeface="Yu Mincho" pitchFamily="34" charset="0"/>
                <a:ea typeface="Yu Mincho" pitchFamily="34" charset="-122"/>
                <a:cs typeface="Yu Mincho" pitchFamily="34" charset="-120"/>
              </a:rPr>
              <a:t>語</a:t>
            </a:r>
            <a:endParaRPr lang="en-US" sz="2200" dirty="0"/>
          </a:p>
        </p:txBody>
      </p:sp>
      <p:sp>
        <p:nvSpPr>
          <p:cNvPr id="7" name="Text 5"/>
          <p:cNvSpPr txBox="1"/>
          <p:nvPr/>
        </p:nvSpPr>
        <p:spPr>
          <a:xfrm>
            <a:off x="1892808" y="2011680"/>
            <a:ext cx="3621024" cy="384048"/>
          </a:xfrm>
          <a:prstGeom prst="rect">
            <a:avLst/>
          </a:prstGeom>
          <a:noFill/>
          <a:ln/>
        </p:spPr>
        <p:txBody>
          <a:bodyPr wrap="square" lIns="0" tIns="0" rIns="0" bIns="0" rtlCol="0" anchor="ctr"/>
          <a:lstStyle/>
          <a:p>
            <a:pPr indent="0" marL="0">
              <a:buNone/>
            </a:pPr>
            <a:r>
              <a:rPr lang="en-US" sz="1600" b="1" dirty="0">
                <a:solidFill>
                  <a:srgbClr val="E2C98A"/>
                </a:solidFill>
                <a:latin typeface="Yu Mincho" pitchFamily="34" charset="0"/>
                <a:ea typeface="Yu Mincho" pitchFamily="34" charset="-122"/>
                <a:cs typeface="Yu Mincho" pitchFamily="34" charset="-120"/>
              </a:rPr>
              <a:t>英語 × 武士道体験</a:t>
            </a:r>
            <a:endParaRPr lang="en-US" sz="1600" dirty="0"/>
          </a:p>
        </p:txBody>
      </p:sp>
      <p:sp>
        <p:nvSpPr>
          <p:cNvPr id="8" name="Text 6"/>
          <p:cNvSpPr txBox="1"/>
          <p:nvPr/>
        </p:nvSpPr>
        <p:spPr>
          <a:xfrm>
            <a:off x="996696" y="2743200"/>
            <a:ext cx="4480560" cy="822960"/>
          </a:xfrm>
          <a:prstGeom prst="rect">
            <a:avLst/>
          </a:prstGeom>
          <a:noFill/>
          <a:ln/>
        </p:spPr>
        <p:txBody>
          <a:bodyPr wrap="square" lIns="0" tIns="0" rIns="0" bIns="0" rtlCol="0" anchor="ctr"/>
          <a:lstStyle/>
          <a:p>
            <a:pPr indent="0" marL="0">
              <a:lnSpc>
                <a:spcPts val="1800"/>
              </a:lnSpc>
              <a:buNone/>
            </a:pPr>
            <a:r>
              <a:rPr lang="en-US" sz="1150" dirty="0">
                <a:solidFill>
                  <a:srgbClr val="A29B8E"/>
                </a:solidFill>
                <a:latin typeface="Yu Gothic" pitchFamily="34" charset="0"/>
                <a:ea typeface="Yu Gothic" pitchFamily="34" charset="-122"/>
                <a:cs typeface="Yu Gothic" pitchFamily="34" charset="-120"/>
              </a:rPr>
              <a:t>御社の英会話・海外研修の受講者様へ、日本文化を英語で体験するプログラムとして弓道体験をご提供できないかと考えております。</a:t>
            </a:r>
            <a:endParaRPr lang="en-US" sz="1150" dirty="0"/>
          </a:p>
        </p:txBody>
      </p:sp>
      <p:sp>
        <p:nvSpPr>
          <p:cNvPr id="9" name="Shape 7"/>
          <p:cNvSpPr/>
          <p:nvPr/>
        </p:nvSpPr>
        <p:spPr>
          <a:xfrm>
            <a:off x="6400800" y="1572768"/>
            <a:ext cx="5102352" cy="2057400"/>
          </a:xfrm>
          <a:prstGeom prst="rect">
            <a:avLst/>
          </a:prstGeom>
          <a:solidFill>
            <a:srgbClr val="1B1914"/>
          </a:solidFill>
          <a:ln w="9525">
            <a:solidFill>
              <a:srgbClr val="C9A86A">
                <a:alpha val="28000"/>
              </a:srgbClr>
            </a:solidFill>
            <a:prstDash val="solid"/>
          </a:ln>
        </p:spPr>
      </p:sp>
      <p:sp>
        <p:nvSpPr>
          <p:cNvPr id="10" name="Shape 8"/>
          <p:cNvSpPr/>
          <p:nvPr/>
        </p:nvSpPr>
        <p:spPr>
          <a:xfrm>
            <a:off x="6711696" y="1901952"/>
            <a:ext cx="713232" cy="713232"/>
          </a:xfrm>
          <a:prstGeom prst="ellipse">
            <a:avLst/>
          </a:prstGeom>
          <a:solidFill>
            <a:srgbClr val="0A0A0A"/>
          </a:solidFill>
          <a:ln w="12700">
            <a:solidFill>
              <a:srgbClr val="C9A86A"/>
            </a:solidFill>
            <a:prstDash val="solid"/>
          </a:ln>
        </p:spPr>
      </p:sp>
      <p:sp>
        <p:nvSpPr>
          <p:cNvPr id="11" name="Text 9"/>
          <p:cNvSpPr txBox="1"/>
          <p:nvPr/>
        </p:nvSpPr>
        <p:spPr>
          <a:xfrm>
            <a:off x="6711696" y="1901952"/>
            <a:ext cx="713232" cy="713232"/>
          </a:xfrm>
          <a:prstGeom prst="rect">
            <a:avLst/>
          </a:prstGeom>
          <a:noFill/>
          <a:ln/>
        </p:spPr>
        <p:txBody>
          <a:bodyPr wrap="square" lIns="0" tIns="0" rIns="0" bIns="0" rtlCol="0" anchor="ctr"/>
          <a:lstStyle/>
          <a:p>
            <a:pPr algn="ctr" indent="0" marL="0">
              <a:buNone/>
            </a:pPr>
            <a:r>
              <a:rPr lang="en-US" sz="2200" dirty="0">
                <a:solidFill>
                  <a:srgbClr val="C9A86A"/>
                </a:solidFill>
                <a:latin typeface="Yu Mincho" pitchFamily="34" charset="0"/>
                <a:ea typeface="Yu Mincho" pitchFamily="34" charset="-122"/>
                <a:cs typeface="Yu Mincho" pitchFamily="34" charset="-120"/>
              </a:rPr>
              <a:t>研</a:t>
            </a:r>
            <a:endParaRPr lang="en-US" sz="2200" dirty="0"/>
          </a:p>
        </p:txBody>
      </p:sp>
      <p:sp>
        <p:nvSpPr>
          <p:cNvPr id="12" name="Text 10"/>
          <p:cNvSpPr txBox="1"/>
          <p:nvPr/>
        </p:nvSpPr>
        <p:spPr>
          <a:xfrm>
            <a:off x="7607808" y="2011680"/>
            <a:ext cx="3621024" cy="384048"/>
          </a:xfrm>
          <a:prstGeom prst="rect">
            <a:avLst/>
          </a:prstGeom>
          <a:noFill/>
          <a:ln/>
        </p:spPr>
        <p:txBody>
          <a:bodyPr wrap="square" lIns="0" tIns="0" rIns="0" bIns="0" rtlCol="0" anchor="ctr"/>
          <a:lstStyle/>
          <a:p>
            <a:pPr indent="0" marL="0">
              <a:buNone/>
            </a:pPr>
            <a:r>
              <a:rPr lang="en-US" sz="1600" b="1" dirty="0">
                <a:solidFill>
                  <a:srgbClr val="E2C98A"/>
                </a:solidFill>
                <a:latin typeface="Yu Mincho" pitchFamily="34" charset="0"/>
                <a:ea typeface="Yu Mincho" pitchFamily="34" charset="-122"/>
                <a:cs typeface="Yu Mincho" pitchFamily="34" charset="-120"/>
              </a:rPr>
              <a:t>法人・学校研修への組み込み</a:t>
            </a:r>
            <a:endParaRPr lang="en-US" sz="1600" dirty="0"/>
          </a:p>
        </p:txBody>
      </p:sp>
      <p:sp>
        <p:nvSpPr>
          <p:cNvPr id="13" name="Text 11"/>
          <p:cNvSpPr txBox="1"/>
          <p:nvPr/>
        </p:nvSpPr>
        <p:spPr>
          <a:xfrm>
            <a:off x="6711696" y="2743200"/>
            <a:ext cx="4480560" cy="822960"/>
          </a:xfrm>
          <a:prstGeom prst="rect">
            <a:avLst/>
          </a:prstGeom>
          <a:noFill/>
          <a:ln/>
        </p:spPr>
        <p:txBody>
          <a:bodyPr wrap="square" lIns="0" tIns="0" rIns="0" bIns="0" rtlCol="0" anchor="ctr"/>
          <a:lstStyle/>
          <a:p>
            <a:pPr indent="0" marL="0">
              <a:lnSpc>
                <a:spcPts val="1800"/>
              </a:lnSpc>
              <a:buNone/>
            </a:pPr>
            <a:r>
              <a:rPr lang="en-US" sz="1150" dirty="0">
                <a:solidFill>
                  <a:srgbClr val="A29B8E"/>
                </a:solidFill>
                <a:latin typeface="Yu Gothic" pitchFamily="34" charset="0"/>
                <a:ea typeface="Yu Gothic" pitchFamily="34" charset="-122"/>
                <a:cs typeface="Yu Gothic" pitchFamily="34" charset="-120"/>
              </a:rPr>
              <a:t>御社の海外研修・留学プログラムの往路／帰路に、日本国内での武士道体験を組み込む形での連携。</a:t>
            </a:r>
            <a:endParaRPr lang="en-US" sz="1150" dirty="0"/>
          </a:p>
        </p:txBody>
      </p:sp>
      <p:sp>
        <p:nvSpPr>
          <p:cNvPr id="14" name="Shape 12"/>
          <p:cNvSpPr/>
          <p:nvPr/>
        </p:nvSpPr>
        <p:spPr>
          <a:xfrm>
            <a:off x="685800" y="3886200"/>
            <a:ext cx="5102352" cy="2057400"/>
          </a:xfrm>
          <a:prstGeom prst="rect">
            <a:avLst/>
          </a:prstGeom>
          <a:solidFill>
            <a:srgbClr val="1B1914"/>
          </a:solidFill>
          <a:ln w="9525">
            <a:solidFill>
              <a:srgbClr val="C9A86A">
                <a:alpha val="28000"/>
              </a:srgbClr>
            </a:solidFill>
            <a:prstDash val="solid"/>
          </a:ln>
        </p:spPr>
      </p:sp>
      <p:sp>
        <p:nvSpPr>
          <p:cNvPr id="15" name="Shape 13"/>
          <p:cNvSpPr/>
          <p:nvPr/>
        </p:nvSpPr>
        <p:spPr>
          <a:xfrm>
            <a:off x="996696" y="4215384"/>
            <a:ext cx="713232" cy="713232"/>
          </a:xfrm>
          <a:prstGeom prst="ellipse">
            <a:avLst/>
          </a:prstGeom>
          <a:solidFill>
            <a:srgbClr val="0A0A0A"/>
          </a:solidFill>
          <a:ln w="12700">
            <a:solidFill>
              <a:srgbClr val="C9A86A"/>
            </a:solidFill>
            <a:prstDash val="solid"/>
          </a:ln>
        </p:spPr>
      </p:sp>
      <p:sp>
        <p:nvSpPr>
          <p:cNvPr id="16" name="Text 14"/>
          <p:cNvSpPr txBox="1"/>
          <p:nvPr/>
        </p:nvSpPr>
        <p:spPr>
          <a:xfrm>
            <a:off x="996696" y="4215384"/>
            <a:ext cx="713232" cy="713232"/>
          </a:xfrm>
          <a:prstGeom prst="rect">
            <a:avLst/>
          </a:prstGeom>
          <a:noFill/>
          <a:ln/>
        </p:spPr>
        <p:txBody>
          <a:bodyPr wrap="square" lIns="0" tIns="0" rIns="0" bIns="0" rtlCol="0" anchor="ctr"/>
          <a:lstStyle/>
          <a:p>
            <a:pPr algn="ctr" indent="0" marL="0">
              <a:buNone/>
            </a:pPr>
            <a:r>
              <a:rPr lang="en-US" sz="2200" dirty="0">
                <a:solidFill>
                  <a:srgbClr val="C9A86A"/>
                </a:solidFill>
                <a:latin typeface="Yu Mincho" pitchFamily="34" charset="0"/>
                <a:ea typeface="Yu Mincho" pitchFamily="34" charset="-122"/>
                <a:cs typeface="Yu Mincho" pitchFamily="34" charset="-120"/>
              </a:rPr>
              <a:t>越</a:t>
            </a:r>
            <a:endParaRPr lang="en-US" sz="2200" dirty="0"/>
          </a:p>
        </p:txBody>
      </p:sp>
      <p:sp>
        <p:nvSpPr>
          <p:cNvPr id="17" name="Text 15"/>
          <p:cNvSpPr txBox="1"/>
          <p:nvPr/>
        </p:nvSpPr>
        <p:spPr>
          <a:xfrm>
            <a:off x="1892808" y="4325112"/>
            <a:ext cx="3621024" cy="384048"/>
          </a:xfrm>
          <a:prstGeom prst="rect">
            <a:avLst/>
          </a:prstGeom>
          <a:noFill/>
          <a:ln/>
        </p:spPr>
        <p:txBody>
          <a:bodyPr wrap="square" lIns="0" tIns="0" rIns="0" bIns="0" rtlCol="0" anchor="ctr"/>
          <a:lstStyle/>
          <a:p>
            <a:pPr indent="0" marL="0">
              <a:buNone/>
            </a:pPr>
            <a:r>
              <a:rPr lang="en-US" sz="1600" b="1" dirty="0">
                <a:solidFill>
                  <a:srgbClr val="E2C98A"/>
                </a:solidFill>
                <a:latin typeface="Yu Mincho" pitchFamily="34" charset="0"/>
                <a:ea typeface="Yu Mincho" pitchFamily="34" charset="-122"/>
                <a:cs typeface="Yu Mincho" pitchFamily="34" charset="-120"/>
              </a:rPr>
              <a:t>フィリピン・東南アジアへの発信</a:t>
            </a:r>
            <a:endParaRPr lang="en-US" sz="1600" dirty="0"/>
          </a:p>
        </p:txBody>
      </p:sp>
      <p:sp>
        <p:nvSpPr>
          <p:cNvPr id="18" name="Text 16"/>
          <p:cNvSpPr txBox="1"/>
          <p:nvPr/>
        </p:nvSpPr>
        <p:spPr>
          <a:xfrm>
            <a:off x="996696" y="5056632"/>
            <a:ext cx="4480560" cy="822960"/>
          </a:xfrm>
          <a:prstGeom prst="rect">
            <a:avLst/>
          </a:prstGeom>
          <a:noFill/>
          <a:ln/>
        </p:spPr>
        <p:txBody>
          <a:bodyPr wrap="square" lIns="0" tIns="0" rIns="0" bIns="0" rtlCol="0" anchor="ctr"/>
          <a:lstStyle/>
          <a:p>
            <a:pPr indent="0" marL="0">
              <a:lnSpc>
                <a:spcPts val="1800"/>
              </a:lnSpc>
              <a:buNone/>
            </a:pPr>
            <a:r>
              <a:rPr lang="en-US" sz="1150" dirty="0">
                <a:solidFill>
                  <a:srgbClr val="A29B8E"/>
                </a:solidFill>
                <a:latin typeface="Yu Gothic" pitchFamily="34" charset="0"/>
                <a:ea typeface="Yu Gothic" pitchFamily="34" charset="-122"/>
                <a:cs typeface="Yu Gothic" pitchFamily="34" charset="-120"/>
              </a:rPr>
              <a:t>御社のマニラ・セブ拠点と観光省ネットワークを通じ、東南アジアからの訪日層に向けた発信のご相談。</a:t>
            </a:r>
            <a:endParaRPr lang="en-US" sz="1150" dirty="0"/>
          </a:p>
        </p:txBody>
      </p:sp>
      <p:sp>
        <p:nvSpPr>
          <p:cNvPr id="19" name="Shape 17"/>
          <p:cNvSpPr/>
          <p:nvPr/>
        </p:nvSpPr>
        <p:spPr>
          <a:xfrm>
            <a:off x="6400800" y="3886200"/>
            <a:ext cx="5102352" cy="2057400"/>
          </a:xfrm>
          <a:prstGeom prst="rect">
            <a:avLst/>
          </a:prstGeom>
          <a:solidFill>
            <a:srgbClr val="1B1914"/>
          </a:solidFill>
          <a:ln w="9525">
            <a:solidFill>
              <a:srgbClr val="C9A86A">
                <a:alpha val="28000"/>
              </a:srgbClr>
            </a:solidFill>
            <a:prstDash val="solid"/>
          </a:ln>
        </p:spPr>
      </p:sp>
      <p:sp>
        <p:nvSpPr>
          <p:cNvPr id="20" name="Shape 18"/>
          <p:cNvSpPr/>
          <p:nvPr/>
        </p:nvSpPr>
        <p:spPr>
          <a:xfrm>
            <a:off x="6711696" y="4215384"/>
            <a:ext cx="713232" cy="713232"/>
          </a:xfrm>
          <a:prstGeom prst="ellipse">
            <a:avLst/>
          </a:prstGeom>
          <a:solidFill>
            <a:srgbClr val="0A0A0A"/>
          </a:solidFill>
          <a:ln w="12700">
            <a:solidFill>
              <a:srgbClr val="C9A86A"/>
            </a:solidFill>
            <a:prstDash val="solid"/>
          </a:ln>
        </p:spPr>
      </p:sp>
      <p:sp>
        <p:nvSpPr>
          <p:cNvPr id="21" name="Text 19"/>
          <p:cNvSpPr txBox="1"/>
          <p:nvPr/>
        </p:nvSpPr>
        <p:spPr>
          <a:xfrm>
            <a:off x="6711696" y="4215384"/>
            <a:ext cx="713232" cy="713232"/>
          </a:xfrm>
          <a:prstGeom prst="rect">
            <a:avLst/>
          </a:prstGeom>
          <a:noFill/>
          <a:ln/>
        </p:spPr>
        <p:txBody>
          <a:bodyPr wrap="square" lIns="0" tIns="0" rIns="0" bIns="0" rtlCol="0" anchor="ctr"/>
          <a:lstStyle/>
          <a:p>
            <a:pPr algn="ctr" indent="0" marL="0">
              <a:buNone/>
            </a:pPr>
            <a:r>
              <a:rPr lang="en-US" sz="2200" dirty="0">
                <a:solidFill>
                  <a:srgbClr val="C9A86A"/>
                </a:solidFill>
                <a:latin typeface="Yu Mincho" pitchFamily="34" charset="0"/>
                <a:ea typeface="Yu Mincho" pitchFamily="34" charset="-122"/>
                <a:cs typeface="Yu Mincho" pitchFamily="34" charset="-120"/>
              </a:rPr>
              <a:t>育</a:t>
            </a:r>
            <a:endParaRPr lang="en-US" sz="2200" dirty="0"/>
          </a:p>
        </p:txBody>
      </p:sp>
      <p:sp>
        <p:nvSpPr>
          <p:cNvPr id="22" name="Text 20"/>
          <p:cNvSpPr txBox="1"/>
          <p:nvPr/>
        </p:nvSpPr>
        <p:spPr>
          <a:xfrm>
            <a:off x="7607808" y="4325112"/>
            <a:ext cx="3621024" cy="384048"/>
          </a:xfrm>
          <a:prstGeom prst="rect">
            <a:avLst/>
          </a:prstGeom>
          <a:noFill/>
          <a:ln/>
        </p:spPr>
        <p:txBody>
          <a:bodyPr wrap="square" lIns="0" tIns="0" rIns="0" bIns="0" rtlCol="0" anchor="ctr"/>
          <a:lstStyle/>
          <a:p>
            <a:pPr indent="0" marL="0">
              <a:buNone/>
            </a:pPr>
            <a:r>
              <a:rPr lang="en-US" sz="1600" b="1" dirty="0">
                <a:solidFill>
                  <a:srgbClr val="E2C98A"/>
                </a:solidFill>
                <a:latin typeface="Yu Mincho" pitchFamily="34" charset="0"/>
                <a:ea typeface="Yu Mincho" pitchFamily="34" charset="-122"/>
                <a:cs typeface="Yu Mincho" pitchFamily="34" charset="-120"/>
              </a:rPr>
              <a:t>教育コンテンツの共同開発</a:t>
            </a:r>
            <a:endParaRPr lang="en-US" sz="1600" dirty="0"/>
          </a:p>
        </p:txBody>
      </p:sp>
      <p:sp>
        <p:nvSpPr>
          <p:cNvPr id="23" name="Text 21"/>
          <p:cNvSpPr txBox="1"/>
          <p:nvPr/>
        </p:nvSpPr>
        <p:spPr>
          <a:xfrm>
            <a:off x="6711696" y="5056632"/>
            <a:ext cx="4480560" cy="822960"/>
          </a:xfrm>
          <a:prstGeom prst="rect">
            <a:avLst/>
          </a:prstGeom>
          <a:noFill/>
          <a:ln/>
        </p:spPr>
        <p:txBody>
          <a:bodyPr wrap="square" lIns="0" tIns="0" rIns="0" bIns="0" rtlCol="0" anchor="ctr"/>
          <a:lstStyle/>
          <a:p>
            <a:pPr indent="0" marL="0">
              <a:lnSpc>
                <a:spcPts val="1800"/>
              </a:lnSpc>
              <a:buNone/>
            </a:pPr>
            <a:r>
              <a:rPr lang="en-US" sz="1150" dirty="0">
                <a:solidFill>
                  <a:srgbClr val="A29B8E"/>
                </a:solidFill>
                <a:latin typeface="Yu Gothic" pitchFamily="34" charset="0"/>
                <a:ea typeface="Yu Gothic" pitchFamily="34" charset="-122"/>
                <a:cs typeface="Yu Gothic" pitchFamily="34" charset="-120"/>
              </a:rPr>
              <a:t>「英語で武士道を語る」教材など、iU様での客員講師のご知見と掛け合わせた教育コンテンツの可能性。</a:t>
            </a:r>
            <a:endParaRPr lang="en-US" sz="1150" dirty="0"/>
          </a:p>
        </p:txBody>
      </p:sp>
      <p:sp>
        <p:nvSpPr>
          <p:cNvPr id="24" name="Text 22"/>
          <p:cNvSpPr txBox="1"/>
          <p:nvPr/>
        </p:nvSpPr>
        <p:spPr>
          <a:xfrm>
            <a:off x="685800" y="6053328"/>
            <a:ext cx="10817352" cy="292608"/>
          </a:xfrm>
          <a:prstGeom prst="rect">
            <a:avLst/>
          </a:prstGeom>
          <a:noFill/>
          <a:ln/>
        </p:spPr>
        <p:txBody>
          <a:bodyPr wrap="square" lIns="0" tIns="0" rIns="0" bIns="0" rtlCol="0" anchor="ctr"/>
          <a:lstStyle/>
          <a:p>
            <a:pPr indent="0" marL="0">
              <a:buNone/>
            </a:pPr>
            <a:r>
              <a:rPr lang="en-US" sz="1200" dirty="0">
                <a:solidFill>
                  <a:srgbClr val="8B7340"/>
                </a:solidFill>
                <a:latin typeface="Yu Gothic" pitchFamily="34" charset="0"/>
                <a:ea typeface="Yu Gothic" pitchFamily="34" charset="-122"/>
                <a:cs typeface="Yu Gothic" pitchFamily="34" charset="-120"/>
              </a:rPr>
              <a:t>まずはお話を伺えれば幸いです。ご関心のある切り口からご相談させてください。</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user/bushido-dev/deck/assets/enso-lg.png">    </p:cNvPr>
          <p:cNvPicPr>
            <a:picLocks noChangeAspect="1"/>
          </p:cNvPicPr>
          <p:nvPr/>
        </p:nvPicPr>
        <p:blipFill>
          <a:blip r:embed="rId2"/>
          <a:stretch>
            <a:fillRect/>
          </a:stretch>
        </p:blipFill>
        <p:spPr>
          <a:xfrm>
            <a:off x="-1417320" y="137160"/>
            <a:ext cx="6492240" cy="6492240"/>
          </a:xfrm>
          <a:prstGeom prst="rect">
            <a:avLst/>
          </a:prstGeom>
        </p:spPr>
      </p:pic>
      <p:sp>
        <p:nvSpPr>
          <p:cNvPr id="3" name="Text 0"/>
          <p:cNvSpPr txBox="1"/>
          <p:nvPr/>
        </p:nvSpPr>
        <p:spPr>
          <a:xfrm>
            <a:off x="5486400" y="1600200"/>
            <a:ext cx="6016752" cy="1417320"/>
          </a:xfrm>
          <a:prstGeom prst="rect">
            <a:avLst/>
          </a:prstGeom>
          <a:noFill/>
          <a:ln/>
        </p:spPr>
        <p:txBody>
          <a:bodyPr wrap="square" lIns="0" tIns="0" rIns="0" bIns="0" rtlCol="0" anchor="ctr"/>
          <a:lstStyle/>
          <a:p>
            <a:pPr indent="0" marL="0">
              <a:lnSpc>
                <a:spcPts val="4600"/>
              </a:lnSpc>
              <a:buNone/>
            </a:pPr>
            <a:r>
              <a:rPr lang="en-US" sz="2700" b="1" dirty="0">
                <a:solidFill>
                  <a:srgbClr val="C9A86A"/>
                </a:solidFill>
                <a:latin typeface="Yu Mincho" pitchFamily="34" charset="0"/>
                <a:ea typeface="Yu Mincho" pitchFamily="34" charset="-122"/>
                <a:cs typeface="Yu Mincho" pitchFamily="34" charset="-120"/>
              </a:rPr>
              <a:t>お会いできる日を</a:t>
            </a:r>
            <a:endParaRPr lang="en-US" sz="2700" dirty="0"/>
          </a:p>
          <a:p>
            <a:pPr indent="0" marL="0">
              <a:lnSpc>
                <a:spcPts val="4600"/>
              </a:lnSpc>
              <a:buNone/>
            </a:pPr>
            <a:r>
              <a:rPr lang="en-US" sz="2700" b="1" dirty="0">
                <a:solidFill>
                  <a:srgbClr val="C9A86A"/>
                </a:solidFill>
                <a:latin typeface="Yu Mincho" pitchFamily="34" charset="0"/>
                <a:ea typeface="Yu Mincho" pitchFamily="34" charset="-122"/>
                <a:cs typeface="Yu Mincho" pitchFamily="34" charset="-120"/>
              </a:rPr>
              <a:t>楽しみにしております。</a:t>
            </a:r>
            <a:endParaRPr lang="en-US" sz="2700" dirty="0"/>
          </a:p>
        </p:txBody>
      </p:sp>
      <p:sp>
        <p:nvSpPr>
          <p:cNvPr id="4" name="Text 1"/>
          <p:cNvSpPr txBox="1"/>
          <p:nvPr/>
        </p:nvSpPr>
        <p:spPr>
          <a:xfrm>
            <a:off x="5486400" y="3429000"/>
            <a:ext cx="6016752" cy="1737360"/>
          </a:xfrm>
          <a:prstGeom prst="rect">
            <a:avLst/>
          </a:prstGeom>
          <a:noFill/>
          <a:ln/>
        </p:spPr>
        <p:txBody>
          <a:bodyPr wrap="square" lIns="0" tIns="0" rIns="0" bIns="0" rtlCol="0" anchor="ctr"/>
          <a:lstStyle/>
          <a:p>
            <a:pPr indent="0" marL="0">
              <a:lnSpc>
                <a:spcPts val="2400"/>
              </a:lnSpc>
              <a:buNone/>
            </a:pPr>
            <a:r>
              <a:rPr lang="en-US" sz="1350" dirty="0">
                <a:solidFill>
                  <a:srgbClr val="F5F0E8"/>
                </a:solidFill>
                <a:latin typeface="Yu Gothic" pitchFamily="34" charset="0"/>
                <a:ea typeface="Yu Gothic" pitchFamily="34" charset="-122"/>
                <a:cs typeface="Yu Gothic" pitchFamily="34" charset="-120"/>
              </a:rPr>
              <a:t>合同会社BUSHIDO ／ BUSHIDO JAPAN</a:t>
            </a:r>
            <a:endParaRPr lang="en-US" sz="1350" dirty="0"/>
          </a:p>
          <a:p>
            <a:pPr indent="0" marL="0">
              <a:lnSpc>
                <a:spcPts val="2400"/>
              </a:lnSpc>
              <a:buNone/>
            </a:pPr>
            <a:r>
              <a:rPr lang="en-US" sz="1350" dirty="0">
                <a:solidFill>
                  <a:srgbClr val="F5F0E8"/>
                </a:solidFill>
                <a:latin typeface="Yu Gothic" pitchFamily="34" charset="0"/>
                <a:ea typeface="Yu Gothic" pitchFamily="34" charset="-122"/>
                <a:cs typeface="Yu Gothic" pitchFamily="34" charset="-120"/>
              </a:rPr>
              <a:t>代表　上岡 賢輔（Kensuke Ueoka）</a:t>
            </a:r>
            <a:endParaRPr lang="en-US" sz="1350" dirty="0"/>
          </a:p>
          <a:p>
            <a:pPr indent="0" marL="0">
              <a:lnSpc>
                <a:spcPts val="2400"/>
              </a:lnSpc>
              <a:buNone/>
            </a:pPr>
            <a:r>
              <a:rPr lang="en-US" sz="1350" dirty="0">
                <a:solidFill>
                  <a:srgbClr val="F5F0E8"/>
                </a:solidFill>
                <a:latin typeface="Yu Gothic" pitchFamily="34" charset="0"/>
                <a:ea typeface="Yu Gothic" pitchFamily="34" charset="-122"/>
                <a:cs typeface="Yu Gothic" pitchFamily="34" charset="-120"/>
              </a:rPr>
              <a:t>愛知県稲沢市</a:t>
            </a:r>
            <a:endParaRPr lang="en-US" sz="1350" dirty="0"/>
          </a:p>
          <a:p>
            <a:pPr indent="0" marL="0">
              <a:lnSpc>
                <a:spcPts val="2400"/>
              </a:lnSpc>
              <a:buNone/>
            </a:pPr>
            <a:r>
              <a:rPr lang="en-US" sz="1350" dirty="0">
                <a:solidFill>
                  <a:srgbClr val="F5F0E8"/>
                </a:solidFill>
                <a:latin typeface="Yu Gothic" pitchFamily="34" charset="0"/>
                <a:ea typeface="Yu Gothic" pitchFamily="34" charset="-122"/>
                <a:cs typeface="Yu Gothic" pitchFamily="34" charset="-120"/>
              </a:rPr>
              <a:t>ueoka@bsd-pro.com</a:t>
            </a:r>
            <a:endParaRPr lang="en-US" sz="1350" dirty="0"/>
          </a:p>
          <a:p>
            <a:pPr indent="0" marL="0">
              <a:lnSpc>
                <a:spcPts val="2400"/>
              </a:lnSpc>
              <a:buNone/>
            </a:pPr>
            <a:r>
              <a:rPr lang="en-US" sz="1350" dirty="0">
                <a:solidFill>
                  <a:srgbClr val="F5F0E8"/>
                </a:solidFill>
                <a:latin typeface="Yu Gothic" pitchFamily="34" charset="0"/>
                <a:ea typeface="Yu Gothic" pitchFamily="34" charset="-122"/>
                <a:cs typeface="Yu Gothic" pitchFamily="34" charset="-120"/>
              </a:rPr>
              <a:t>bsd-pro.com</a:t>
            </a:r>
            <a:endParaRPr lang="en-US" sz="1350" dirty="0"/>
          </a:p>
        </p:txBody>
      </p:sp>
      <p:sp>
        <p:nvSpPr>
          <p:cNvPr id="5" name="Text 2"/>
          <p:cNvSpPr txBox="1"/>
          <p:nvPr/>
        </p:nvSpPr>
        <p:spPr>
          <a:xfrm>
            <a:off x="5486400" y="5532120"/>
            <a:ext cx="6016752" cy="310896"/>
          </a:xfrm>
          <a:prstGeom prst="rect">
            <a:avLst/>
          </a:prstGeom>
          <a:noFill/>
          <a:ln/>
        </p:spPr>
        <p:txBody>
          <a:bodyPr wrap="square" lIns="0" tIns="0" rIns="0" bIns="0" rtlCol="0" anchor="ctr"/>
          <a:lstStyle/>
          <a:p>
            <a:pPr indent="0" marL="0">
              <a:buNone/>
            </a:pPr>
            <a:r>
              <a:rPr lang="en-US" sz="1250" i="1" dirty="0">
                <a:solidFill>
                  <a:srgbClr val="8B7340"/>
                </a:solidFill>
                <a:latin typeface="Cambria" pitchFamily="34" charset="0"/>
                <a:ea typeface="Cambria" pitchFamily="34" charset="-122"/>
                <a:cs typeface="Cambria" pitchFamily="34" charset="-120"/>
              </a:rPr>
              <a:t>Thank you for your time. — From Nagoya, with gratitude.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BUSHIDO JAPAN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ご挨拶 — BUSHIDO JAPAN 上岡賢輔</dc:title>
  <dc:subject>PptxGenJS Presentation</dc:subject>
  <dc:creator>上岡 賢輔 / 合同会社BUSHIDO</dc:creator>
  <cp:lastModifiedBy>上岡 賢輔 / 合同会社BUSHIDO</cp:lastModifiedBy>
  <cp:revision>1</cp:revision>
  <dcterms:created xsi:type="dcterms:W3CDTF">2026-08-26T11:31:50Z</dcterms:created>
  <dcterms:modified xsi:type="dcterms:W3CDTF">2026-08-26T11:31:50Z</dcterms:modified>
</cp:coreProperties>
</file>