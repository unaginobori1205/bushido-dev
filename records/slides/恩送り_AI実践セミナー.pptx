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172B"/>
              </a:gs>
              <a:gs pos="100000">
                <a:srgbClr val="14213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920240"/>
            <a:ext cx="54864" cy="3017520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173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E7C98C"/>
                </a:solidFill>
                <a:latin typeface="Noto Sans CJK JP"/>
                <a:ea typeface="Noto Sans CJK JP"/>
                <a:cs typeface="Noto Sans CJK JP"/>
              </a:rPr>
              <a:t>名古屋青年会議所  会員向けセミナー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01168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800" b="1">
                <a:solidFill>
                  <a:srgbClr val="FFFFFF"/>
                </a:solidFill>
                <a:latin typeface="Noto Serif CJK JP"/>
                <a:ea typeface="Noto Serif CJK JP"/>
                <a:cs typeface="Noto Serif CJK JP"/>
              </a:rPr>
              <a:t>恩 送 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AIを使う時代から、AIを働かせる時代へ。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9834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CFD6E6"/>
                </a:solidFill>
                <a:latin typeface="Noto Sans CJK JP"/>
                <a:ea typeface="Noto Sans CJK JP"/>
                <a:cs typeface="Noto Sans CJK JP"/>
              </a:rPr>
              <a:t>11年間のJCライフでいただいた学びを、次の世代へ。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126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4BC"/>
                </a:solidFill>
                <a:latin typeface="Noto Sans CJK JP"/>
                <a:ea typeface="Noto Sans CJK JP"/>
                <a:cs typeface="Noto Sans CJK JP"/>
              </a:rPr>
              <a:t>上岡賢輔  ｜  名古屋青年会議所 2016年入会 ・ JCライフ11年目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02</a:t>
            </a:r>
            <a:r>
              <a:rPr sz="130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   SELF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自己紹介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392" y="1783080"/>
            <a:ext cx="1005840" cy="45720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06070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6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1">
                <a:solidFill>
                  <a:srgbClr val="14213D"/>
                </a:solidFill>
                <a:latin typeface="Noto Sans CJK JP"/>
                <a:ea typeface="Noto Sans CJK JP"/>
                <a:cs typeface="Noto Sans CJK JP"/>
              </a:rPr>
              <a:t>上岡 賢輔（かみおか けんすけ）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▸  </a:t>
            </a:r>
            <a:r>
              <a:rPr sz="17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名古屋青年会議所 2016年入会／JCライフ11年目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▸  </a:t>
            </a:r>
            <a:r>
              <a:rPr sz="17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広報・国際・例会・アカデミー・3Gプロジェクト 等に関わる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▸  </a:t>
            </a:r>
            <a:r>
              <a:rPr sz="17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複数事業を経営／SNSアカウント 約15個を運用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▸  </a:t>
            </a:r>
            <a:r>
              <a:rPr sz="17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AIを 日常業務・SNS・資料作成・事業構築 に活用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6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1">
                <a:solidFill>
                  <a:srgbClr val="14213D"/>
                </a:solidFill>
                <a:latin typeface="Noto Sans CJK JP"/>
                <a:ea typeface="Noto Sans CJK JP"/>
                <a:cs typeface="Noto Sans CJK JP"/>
              </a:rPr>
              <a:t>運用領域はバラバラ。だから仕組み化が要る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▸  </a:t>
            </a:r>
            <a:r>
              <a:rPr sz="17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個人発信・インバウンド・鰻通販・福祉・コインランドリー・テスラレンタカー・日本文化体験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5806440"/>
            <a:ext cx="10469880" cy="65836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5806440"/>
            <a:ext cx="9966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目的もターゲットも違う。気合いだけでは回らない。だからAIとSNSの仕組み化が必要。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02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172B"/>
              </a:gs>
              <a:gs pos="100000">
                <a:srgbClr val="14213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286000"/>
            <a:ext cx="822960" cy="54864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E7C98C"/>
                </a:solidFill>
                <a:latin typeface="Noto Sans CJK JP"/>
                <a:ea typeface="Noto Sans CJK JP"/>
                <a:cs typeface="Noto Sans CJK JP"/>
              </a:rPr>
              <a:t>つかみ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51760"/>
            <a:ext cx="10607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Noto Serif CJK JP"/>
                <a:ea typeface="Noto Serif CJK JP"/>
                <a:cs typeface="Noto Serif CJK JP"/>
              </a:rPr>
              <a:t>草彅剛に似ていると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Noto Serif CJK JP"/>
                <a:ea typeface="Noto Serif CJK JP"/>
                <a:cs typeface="Noto Serif CJK JP"/>
              </a:rPr>
              <a:t>言われます。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09159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CFD6E6"/>
                </a:solidFill>
                <a:latin typeface="Noto Sans CJK JP"/>
                <a:ea typeface="Noto Sans CJK JP"/>
                <a:cs typeface="Noto Sans CJK JP"/>
              </a:rPr>
              <a:t>最悪、ここだけ覚えて帰ってもらっても大丈夫です（笑）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CFD6E6"/>
                </a:solidFill>
                <a:latin typeface="Noto Sans CJK JP"/>
                <a:ea typeface="Noto Sans CJK JP"/>
                <a:cs typeface="Noto Sans CJK JP"/>
              </a:rPr>
              <a:t>ただ、今日の話は本気です。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03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172B"/>
              </a:gs>
              <a:gs pos="100000">
                <a:srgbClr val="14213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286000"/>
            <a:ext cx="822960" cy="54864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E7C98C"/>
                </a:solidFill>
                <a:latin typeface="Noto Sans CJK JP"/>
                <a:ea typeface="Noto Sans CJK JP"/>
                <a:cs typeface="Noto Sans CJK JP"/>
              </a:rPr>
              <a:t>今日の結論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51760"/>
            <a:ext cx="10607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Noto Serif CJK JP"/>
                <a:ea typeface="Noto Serif CJK JP"/>
                <a:cs typeface="Noto Serif CJK JP"/>
              </a:rPr>
              <a:t>AIを使う時代から、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Noto Serif CJK JP"/>
                <a:ea typeface="Noto Serif CJK JP"/>
                <a:cs typeface="Noto Serif CJK JP"/>
              </a:rPr>
              <a:t>AIを働かせる時代へ。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09159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CFD6E6"/>
                </a:solidFill>
                <a:latin typeface="Noto Sans CJK JP"/>
                <a:ea typeface="Noto Sans CJK JP"/>
                <a:cs typeface="Noto Sans CJK JP"/>
              </a:rPr>
              <a:t>役割を与える／資料を読ませる／投稿を作らせる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CFD6E6"/>
                </a:solidFill>
                <a:latin typeface="Noto Sans CJK JP"/>
                <a:ea typeface="Noto Sans CJK JP"/>
                <a:cs typeface="Noto Sans CJK JP"/>
              </a:rPr>
              <a:t>議事録を整理させる／動画構成を作らせる／業務を任せる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04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05</a:t>
            </a:r>
            <a:r>
              <a:rPr sz="130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   WORK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まず、やりたいことを書いてください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392" y="1783080"/>
            <a:ext cx="1005840" cy="45720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704088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7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今日は、一方的にAIの使い方を学ぶ時間ではありません。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7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まず、皆さん自身の「やりたいこと」を書いてください。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7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仕事・JC・趣味・恋愛、何でも大丈夫です。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7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AIは、やりたいことがある人ほど強く使えます。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339328" y="2029968"/>
            <a:ext cx="3118104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4A2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qr_kick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2286000"/>
            <a:ext cx="2606040" cy="2606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39328" y="4910328"/>
            <a:ext cx="31181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4213D"/>
                </a:solidFill>
                <a:latin typeface="Noto Sans CJK JP"/>
                <a:ea typeface="Noto Sans CJK JP"/>
                <a:cs typeface="Noto Sans CJK JP"/>
              </a:rPr>
              <a:t>やりたいこと整理シート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QRから回答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89320"/>
            <a:ext cx="7040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※ QRは仮URL。実フォーム作成後に差し替えます。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05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172B"/>
              </a:gs>
              <a:gs pos="100000">
                <a:srgbClr val="14213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286000"/>
            <a:ext cx="822960" cy="54864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E7C98C"/>
                </a:solidFill>
                <a:latin typeface="Noto Sans CJK JP"/>
                <a:ea typeface="Noto Sans CJK JP"/>
                <a:cs typeface="Noto Sans CJK JP"/>
              </a:rPr>
              <a:t>今日の核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51760"/>
            <a:ext cx="10607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Noto Serif CJK JP"/>
                <a:ea typeface="Noto Serif CJK JP"/>
                <a:cs typeface="Noto Serif CJK JP"/>
              </a:rPr>
              <a:t>背景と目的が大事。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Noto Serif CJK JP"/>
                <a:ea typeface="Noto Serif CJK JP"/>
                <a:cs typeface="Noto Serif CJK JP"/>
              </a:rPr>
              <a:t>これはJCと同じ。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09159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CFD6E6"/>
                </a:solidFill>
                <a:latin typeface="Noto Sans CJK JP"/>
                <a:ea typeface="Noto Sans CJK JP"/>
                <a:cs typeface="Noto Sans CJK JP"/>
              </a:rPr>
              <a:t>JC事業 … 背景と目的が弱いと議案が通らない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CFD6E6"/>
                </a:solidFill>
                <a:latin typeface="Noto Sans CJK JP"/>
                <a:ea typeface="Noto Sans CJK JP"/>
                <a:cs typeface="Noto Sans CJK JP"/>
              </a:rPr>
              <a:t>SNS … 弱いと人に届かない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CFD6E6"/>
                </a:solidFill>
                <a:latin typeface="Noto Sans CJK JP"/>
                <a:ea typeface="Noto Sans CJK JP"/>
                <a:cs typeface="Noto Sans CJK JP"/>
              </a:rPr>
              <a:t>AI … 弱いと浅い答えしか返ってこない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06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07</a:t>
            </a:r>
            <a:r>
              <a:rPr sz="130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  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今日の整理フレーム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392" y="1783080"/>
            <a:ext cx="1005840" cy="45720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06070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6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1">
                <a:solidFill>
                  <a:srgbClr val="14213D"/>
                </a:solidFill>
                <a:latin typeface="Noto Sans CJK JP"/>
                <a:ea typeface="Noto Sans CJK JP"/>
                <a:cs typeface="Noto Sans CJK JP"/>
              </a:rPr>
              <a:t>背景  →  目的  →  対象  →  手段  →  導線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▸  </a:t>
            </a:r>
            <a:r>
              <a:rPr sz="17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① やりたいこと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▸  </a:t>
            </a:r>
            <a:r>
              <a:rPr sz="17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② それをやりたい背景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▸  </a:t>
            </a:r>
            <a:r>
              <a:rPr sz="17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③ 実現したい目的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▸  </a:t>
            </a:r>
            <a:r>
              <a:rPr sz="17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④ 誰に届けたいか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▸  </a:t>
            </a:r>
            <a:r>
              <a:rPr sz="17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⑤ どんな行動につなげたいか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▸  </a:t>
            </a:r>
            <a:r>
              <a:rPr sz="17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⑥ AIやSNSをどう使えそうか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5806440"/>
            <a:ext cx="10469880" cy="65836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5806440"/>
            <a:ext cx="9966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手段から入るとズレる。Instagram も YouTube も大事。でもその前に「なぜやるのか」。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07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172B"/>
              </a:gs>
              <a:gs pos="100000">
                <a:srgbClr val="14213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286000"/>
            <a:ext cx="822960" cy="54864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E7C98C"/>
                </a:solidFill>
                <a:latin typeface="Noto Sans CJK JP"/>
                <a:ea typeface="Noto Sans CJK JP"/>
                <a:cs typeface="Noto Sans CJK JP"/>
              </a:rPr>
              <a:t>SNSの軸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51760"/>
            <a:ext cx="10607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Noto Serif CJK JP"/>
                <a:ea typeface="Noto Serif CJK JP"/>
                <a:cs typeface="Noto Serif CJK JP"/>
              </a:rPr>
              <a:t>誰に・何を・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Noto Serif CJK JP"/>
                <a:ea typeface="Noto Serif CJK JP"/>
                <a:cs typeface="Noto Serif CJK JP"/>
              </a:rPr>
              <a:t>何につなげるか。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09159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CFD6E6"/>
                </a:solidFill>
                <a:latin typeface="Noto Sans CJK JP"/>
                <a:ea typeface="Noto Sans CJK JP"/>
                <a:cs typeface="Noto Sans CJK JP"/>
              </a:rPr>
              <a:t>一番危ないのは、続けられないことではない。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CFD6E6"/>
                </a:solidFill>
                <a:latin typeface="Noto Sans CJK JP"/>
                <a:ea typeface="Noto Sans CJK JP"/>
                <a:cs typeface="Noto Sans CJK JP"/>
              </a:rPr>
              <a:t>軸がないまま投稿を続けること。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CFD6E6"/>
                </a:solidFill>
                <a:latin typeface="Noto Sans CJK JP"/>
                <a:ea typeface="Noto Sans CJK JP"/>
                <a:cs typeface="Noto Sans CJK JP"/>
              </a:rPr>
              <a:t>軸があれば、AIはかなり強い味方になる。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08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09</a:t>
            </a:r>
            <a:r>
              <a:rPr sz="130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  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15アカウント運用して分かったこと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392" y="1783080"/>
            <a:ext cx="1005840" cy="45720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06070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6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1">
                <a:solidFill>
                  <a:srgbClr val="14213D"/>
                </a:solidFill>
                <a:latin typeface="Noto Sans CJK JP"/>
                <a:ea typeface="Noto Sans CJK JP"/>
                <a:cs typeface="Noto Sans CJK JP"/>
              </a:rPr>
              <a:t>SNSは、気合いでは続かない。必要なのは「型」。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▸  </a:t>
            </a:r>
            <a:r>
              <a:rPr sz="17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投稿テーマの型／台本の型／画像の型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▸  </a:t>
            </a:r>
            <a:r>
              <a:rPr sz="17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ハッシュタグの型／導線の型／振り返りの型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6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1">
                <a:solidFill>
                  <a:srgbClr val="14213D"/>
                </a:solidFill>
                <a:latin typeface="Noto Sans CJK JP"/>
                <a:ea typeface="Noto Sans CJK JP"/>
                <a:cs typeface="Noto Sans CJK JP"/>
              </a:rPr>
              <a:t>AIは、この型づくりに非常に強い。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▸  </a:t>
            </a:r>
            <a:r>
              <a:rPr sz="17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ただし、型の前に「軸」が必要。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▸  </a:t>
            </a:r>
            <a:r>
              <a:rPr sz="17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背景と目的があり、誰に届けるかが決まっているから、型が機能する。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09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10</a:t>
            </a:r>
            <a:r>
              <a:rPr sz="130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   WHAT AI CAN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AIでできること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392" y="1783080"/>
            <a:ext cx="1005840" cy="45720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5074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304288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4213D"/>
                </a:solidFill>
                <a:latin typeface="Noto Sans CJK JP"/>
                <a:ea typeface="Noto Sans CJK JP"/>
                <a:cs typeface="Noto Sans CJK JP"/>
              </a:rPr>
              <a:t>発信・クリエイティブ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2761487"/>
            <a:ext cx="640080" cy="36576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2944368"/>
            <a:ext cx="4489704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3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SNS投稿文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3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画像生成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3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リール台本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3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YouTube台本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3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ブログ / note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3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ラジオ配信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3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音楽制作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3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動画制作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3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パース作成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103120"/>
            <a:ext cx="5074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304288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4213D"/>
                </a:solidFill>
                <a:latin typeface="Noto Sans CJK JP"/>
                <a:ea typeface="Noto Sans CJK JP"/>
                <a:cs typeface="Noto Sans CJK JP"/>
              </a:rPr>
              <a:t>JC・業務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56248" y="2761487"/>
            <a:ext cx="640080" cy="36576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2944368"/>
            <a:ext cx="4489704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3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例会告知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3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協賛依頼文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3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議事録整理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3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資料作成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3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会社紹介 / 商品PR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3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採用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3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イベント告知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3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業務ツール作成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5806440"/>
            <a:ext cx="10469880" cy="65836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5806440"/>
            <a:ext cx="9966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文章だけではない。画像・音声・動画・音楽・資料・業務ツールまで、全部AIで下準備できる。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11</a:t>
            </a:r>
            <a:r>
              <a:rPr sz="130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  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参加者チェック ─ 使っている人？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392" y="1783080"/>
            <a:ext cx="1005840" cy="45720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5074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304288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4213D"/>
                </a:solidFill>
                <a:latin typeface="Noto Sans CJK JP"/>
                <a:ea typeface="Noto Sans CJK JP"/>
                <a:cs typeface="Noto Sans CJK JP"/>
              </a:rPr>
              <a:t>AI・入力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2761487"/>
            <a:ext cx="640080" cy="36576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2944368"/>
            <a:ext cx="4489704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AIに課金している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音声入力を使っている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NotebookLM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Notion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Obsidian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103120"/>
            <a:ext cx="5074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304288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4213D"/>
                </a:solidFill>
                <a:latin typeface="Noto Sans CJK JP"/>
                <a:ea typeface="Noto Sans CJK JP"/>
                <a:cs typeface="Noto Sans CJK JP"/>
              </a:rPr>
              <a:t>制作・開発系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56248" y="2761487"/>
            <a:ext cx="640080" cy="36576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2944368"/>
            <a:ext cx="4489704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Google Flow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Claude Code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Codex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Cursor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Google Antigravity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5806440"/>
            <a:ext cx="10469880" cy="65836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5806440"/>
            <a:ext cx="9966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大事なのは全部を覚えることではない。AIやSNSを、自分の目的のためにどう働かせるか。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12</a:t>
            </a:r>
            <a:r>
              <a:rPr sz="130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   BEST FIRST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まず一番おすすめ ─ 音声入力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392" y="1783080"/>
            <a:ext cx="1005840" cy="45720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06070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6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1">
                <a:solidFill>
                  <a:srgbClr val="14213D"/>
                </a:solidFill>
                <a:latin typeface="Noto Sans CJK JP"/>
                <a:ea typeface="Noto Sans CJK JP"/>
                <a:cs typeface="Noto Sans CJK JP"/>
              </a:rPr>
              <a:t>一番簡単で、一番効果がある。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▸  </a:t>
            </a:r>
            <a:r>
              <a:rPr sz="17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使いこなせない人の多くは「文字を打とう」とする。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▸  </a:t>
            </a:r>
            <a:r>
              <a:rPr sz="17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経営者やJC会員は、頭の中に言葉・想い・構想・現場感がある。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▸  </a:t>
            </a:r>
            <a:r>
              <a:rPr sz="17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それを、まず音声でAIに投げる。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6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1">
                <a:solidFill>
                  <a:srgbClr val="14213D"/>
                </a:solidFill>
                <a:latin typeface="Noto Sans CJK JP"/>
                <a:ea typeface="Noto Sans CJK JP"/>
                <a:cs typeface="Noto Sans CJK JP"/>
              </a:rPr>
              <a:t>綺麗に話す必要はない。そのまま話せば、AIが整理してくれる。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13</a:t>
            </a:r>
            <a:r>
              <a:rPr sz="130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  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NotebookLM ─ 資料を読ませるAI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392" y="1783080"/>
            <a:ext cx="1005840" cy="45720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5074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304288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4213D"/>
                </a:solidFill>
                <a:latin typeface="Noto Sans CJK JP"/>
                <a:ea typeface="Noto Sans CJK JP"/>
                <a:cs typeface="Noto Sans CJK JP"/>
              </a:rPr>
              <a:t>使い道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2761487"/>
            <a:ext cx="640080" cy="36576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2944368"/>
            <a:ext cx="4489704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JC事業資料の読み込み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例会資料の整理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議事録の要約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過去資料の検索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勉強会資料の作成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音声概要で学習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103120"/>
            <a:ext cx="5074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304288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4213D"/>
                </a:solidFill>
                <a:latin typeface="Noto Sans CJK JP"/>
                <a:ea typeface="Noto Sans CJK JP"/>
                <a:cs typeface="Noto Sans CJK JP"/>
              </a:rPr>
              <a:t>JCと相性◎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56248" y="2761487"/>
            <a:ext cx="640080" cy="36576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2944368"/>
            <a:ext cx="4489704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議案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事業計画書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議事録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報告書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過去資料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→ 要約・論点整理・次回資料へ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5806440"/>
            <a:ext cx="10469880" cy="65836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5806440"/>
            <a:ext cx="9966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GoogleのAIツール。Audio Overview（音声概要）機能あり。JC活動と非常に相性が良い。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14</a:t>
            </a:r>
            <a:r>
              <a:rPr sz="130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  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Notion / Obsidian ─ 情報を資産化する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392" y="1783080"/>
            <a:ext cx="1005840" cy="45720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06070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6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1">
                <a:solidFill>
                  <a:srgbClr val="14213D"/>
                </a:solidFill>
                <a:latin typeface="Noto Sans CJK JP"/>
                <a:ea typeface="Noto Sans CJK JP"/>
                <a:cs typeface="Noto Sans CJK JP"/>
              </a:rPr>
              <a:t>AIで大事なのは、情報を「流さない」こと。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▸  </a:t>
            </a:r>
            <a:r>
              <a:rPr sz="17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その場限りのチャットで終わらせると、もったいない。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6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1">
                <a:solidFill>
                  <a:srgbClr val="14213D"/>
                </a:solidFill>
                <a:latin typeface="Noto Sans CJK JP"/>
                <a:ea typeface="Noto Sans CJK JP"/>
                <a:cs typeface="Noto Sans CJK JP"/>
              </a:rPr>
              <a:t>Notion … チーム共有・プロジェクト管理に向く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6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1">
                <a:solidFill>
                  <a:srgbClr val="14213D"/>
                </a:solidFill>
                <a:latin typeface="Noto Sans CJK JP"/>
                <a:ea typeface="Noto Sans CJK JP"/>
                <a:cs typeface="Noto Sans CJK JP"/>
              </a:rPr>
              <a:t>Obsidian … 自分の思考・学びの蓄積に向く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▸  </a:t>
            </a:r>
            <a:r>
              <a:rPr sz="17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JCで学んだこと、先輩の言葉、事業の気づきを蓄積すれば、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▸  </a:t>
            </a:r>
            <a:r>
              <a:rPr sz="17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自分だけの「知識資産」になる。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15</a:t>
            </a:r>
            <a:r>
              <a:rPr sz="130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  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Google Flow ─ 動画や世界観を形にする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392" y="1783080"/>
            <a:ext cx="1005840" cy="45720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5074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304288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4213D"/>
                </a:solidFill>
                <a:latin typeface="Noto Sans CJK JP"/>
                <a:ea typeface="Noto Sans CJK JP"/>
                <a:cs typeface="Noto Sans CJK JP"/>
              </a:rPr>
              <a:t>使い道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2761487"/>
            <a:ext cx="640080" cy="36576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2944368"/>
            <a:ext cx="4489704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ショート動画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イベント告知動画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事業紹介動画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商品紹介動画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採用動画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JC事業のPR動画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世界観づくり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103120"/>
            <a:ext cx="5074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304288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4213D"/>
                </a:solidFill>
                <a:latin typeface="Noto Sans CJK JP"/>
                <a:ea typeface="Noto Sans CJK JP"/>
                <a:cs typeface="Noto Sans CJK JP"/>
              </a:rPr>
              <a:t>ポイント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56248" y="2761487"/>
            <a:ext cx="640080" cy="36576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2944368"/>
            <a:ext cx="4489704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Google LabsのAI映像制作ツール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完成品をいきなり作らない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頭の中のイメージを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「早く形にする」ことが大事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5806440"/>
            <a:ext cx="10469880" cy="65836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5806440"/>
            <a:ext cx="9966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動画のハードルも下がっていく。早く形にして、世界観を共有する。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16</a:t>
            </a:r>
            <a:r>
              <a:rPr sz="130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   TOOL (上級)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開発系AI ─ Claude Code / Codex / Cursor / Antigravity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392" y="1783080"/>
            <a:ext cx="1005840" cy="45720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5074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304288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4213D"/>
                </a:solidFill>
                <a:latin typeface="Noto Sans CJK JP"/>
                <a:ea typeface="Noto Sans CJK JP"/>
                <a:cs typeface="Noto Sans CJK JP"/>
              </a:rPr>
              <a:t>作れるもの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2761487"/>
            <a:ext cx="640080" cy="36576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2944368"/>
            <a:ext cx="4489704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業務ツール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予約表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チェックリスト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SNS管理表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フォーム設計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LPのたたき台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103120"/>
            <a:ext cx="5074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304288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4213D"/>
                </a:solidFill>
                <a:latin typeface="Noto Sans CJK JP"/>
                <a:ea typeface="Noto Sans CJK JP"/>
                <a:cs typeface="Noto Sans CJK JP"/>
              </a:rPr>
              <a:t>仕組み化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56248" y="2761487"/>
            <a:ext cx="640080" cy="36576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2944368"/>
            <a:ext cx="4489704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顧客管理の仕組み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議事録フォーマット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社内業務改善ツール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→ 簡単なものはAIに任せられる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5806440"/>
            <a:ext cx="10469880" cy="65836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5806440"/>
            <a:ext cx="9966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大事なのはコードが書けることではない。自分の業務のどこを仕組み化したいか、を言語化できること。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172B"/>
              </a:gs>
              <a:gs pos="100000">
                <a:srgbClr val="14213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286000"/>
            <a:ext cx="822960" cy="54864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E7C98C"/>
                </a:solidFill>
                <a:latin typeface="Noto Sans CJK JP"/>
                <a:ea typeface="Noto Sans CJK JP"/>
                <a:cs typeface="Noto Sans CJK JP"/>
              </a:rPr>
              <a:t>未来の話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51760"/>
            <a:ext cx="10607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Noto Serif CJK JP"/>
                <a:ea typeface="Noto Serif CJK JP"/>
                <a:cs typeface="Noto Serif CJK JP"/>
              </a:rPr>
              <a:t>これからは、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Noto Serif CJK JP"/>
                <a:ea typeface="Noto Serif CJK JP"/>
                <a:cs typeface="Noto Serif CJK JP"/>
              </a:rPr>
              <a:t>自動化されていく。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09159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CFD6E6"/>
                </a:solidFill>
                <a:latin typeface="Noto Sans CJK JP"/>
                <a:ea typeface="Noto Sans CJK JP"/>
                <a:cs typeface="Noto Sans CJK JP"/>
              </a:rPr>
              <a:t>MCP = AIといろいろなツールをつなぐ仕組み（公式は「USB-Cのよう」と説明）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CFD6E6"/>
                </a:solidFill>
                <a:latin typeface="Noto Sans CJK JP"/>
                <a:ea typeface="Noto Sans CJK JP"/>
                <a:cs typeface="Noto Sans CJK JP"/>
              </a:rPr>
              <a:t>Drive・カレンダー・Notion・Obsidian・顧客管理・予約フォーム…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CFD6E6"/>
                </a:solidFill>
                <a:latin typeface="Noto Sans CJK JP"/>
                <a:ea typeface="Noto Sans CJK JP"/>
                <a:cs typeface="Noto Sans CJK JP"/>
              </a:rPr>
              <a:t>AIは相談相手から「実際に働くスタッフ」に近づく。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172B"/>
              </a:gs>
              <a:gs pos="100000">
                <a:srgbClr val="14213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286000"/>
            <a:ext cx="822960" cy="54864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E7C98C"/>
                </a:solidFill>
                <a:latin typeface="Noto Sans CJK JP"/>
                <a:ea typeface="Noto Sans CJK JP"/>
                <a:cs typeface="Noto Sans CJK JP"/>
              </a:rPr>
              <a:t>ただし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51760"/>
            <a:ext cx="10607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Noto Serif CJK JP"/>
                <a:ea typeface="Noto Serif CJK JP"/>
                <a:cs typeface="Noto Serif CJK JP"/>
              </a:rPr>
              <a:t>背景と目的がなければ、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Noto Serif CJK JP"/>
                <a:ea typeface="Noto Serif CJK JP"/>
                <a:cs typeface="Noto Serif CJK JP"/>
              </a:rPr>
              <a:t>速くズレるだけ。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09159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CFD6E6"/>
                </a:solidFill>
                <a:latin typeface="Noto Sans CJK JP"/>
                <a:ea typeface="Noto Sans CJK JP"/>
                <a:cs typeface="Noto Sans CJK JP"/>
              </a:rPr>
              <a:t>AIで発信は速くなる。MCPで業務は自動化される。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CFD6E6"/>
                </a:solidFill>
                <a:latin typeface="Noto Sans CJK JP"/>
                <a:ea typeface="Noto Sans CJK JP"/>
                <a:cs typeface="Noto Sans CJK JP"/>
              </a:rPr>
              <a:t>でも、背景と目的がなければ、速くズレるだけ。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08076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AI時代に必要なのは、ツールに詳しい人ではなく、背景と目的を言語化できる人。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19</a:t>
            </a:r>
            <a:r>
              <a:rPr sz="130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  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実演 ─ あなたの会社・JC事業を題材に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392" y="1783080"/>
            <a:ext cx="1005840" cy="45720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5074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304288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4213D"/>
                </a:solidFill>
                <a:latin typeface="Noto Sans CJK JP"/>
                <a:ea typeface="Noto Sans CJK JP"/>
                <a:cs typeface="Noto Sans CJK JP"/>
              </a:rPr>
              <a:t>その場でやること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2761487"/>
            <a:ext cx="640080" cy="36576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2944368"/>
            <a:ext cx="4489704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JC事業をSNS投稿に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自社商品を30秒リール台本に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協賛依頼文を作る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会社紹介文を作る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103120"/>
            <a:ext cx="5074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304288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4213D"/>
                </a:solidFill>
                <a:latin typeface="Noto Sans CJK JP"/>
                <a:ea typeface="Noto Sans CJK JP"/>
                <a:cs typeface="Noto Sans CJK JP"/>
              </a:rPr>
              <a:t>さらに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56248" y="2761487"/>
            <a:ext cx="640080" cy="36576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2944368"/>
            <a:ext cx="4489704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YouTube企画にする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Google Flow用の動画構成に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業務ツール化のアイデア出し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→ 自分ごとで一気に理解できる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5806440"/>
            <a:ext cx="10469880" cy="65836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5806440"/>
            <a:ext cx="9966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冒頭ワークで書いた「やりたいこと」を題材に、実際にAIでどう形にできるかを見せます。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20</a:t>
            </a:r>
            <a:r>
              <a:rPr sz="130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  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実演プロンプト ─ 背景と目的から整理する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392" y="1627632"/>
            <a:ext cx="1005840" cy="45720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74519"/>
            <a:ext cx="10515600" cy="44348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0312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7C98C"/>
                </a:solidFill>
                <a:latin typeface="Noto Sans CJK JP"/>
                <a:ea typeface="Noto Sans CJK JP"/>
                <a:cs typeface="Noto Sans CJK JP"/>
              </a:rPr>
              <a:t>あなたは、経営者とJCメンバーの想いを整理し、AI/SNS活用に落とし込むプロの編集者です。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97480"/>
            <a:ext cx="99669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E8ECF5"/>
                </a:solidFill>
                <a:latin typeface="Noto Sans CJK JP"/>
                <a:ea typeface="Noto Sans CJK JP"/>
                <a:cs typeface="Noto Sans CJK JP"/>
              </a:rPr>
              <a:t>【入力】やりたいこと / 背景 / 目的 / 届けたい相手 / 伝えたい価値 /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E8ECF5"/>
                </a:solidFill>
                <a:latin typeface="Noto Sans CJK JP"/>
                <a:ea typeface="Noto Sans CJK JP"/>
                <a:cs typeface="Noto Sans CJK JP"/>
              </a:rPr>
              <a:t>　　　 してほしい行動 / 使えるSNS・AI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E8ECF5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E8ECF5"/>
                </a:solidFill>
                <a:latin typeface="Noto Sans CJK JP"/>
                <a:ea typeface="Noto Sans CJK JP"/>
                <a:cs typeface="Noto Sans CJK JP"/>
              </a:rPr>
              <a:t>【出力】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E8ECF5"/>
                </a:solidFill>
                <a:latin typeface="Noto Sans CJK JP"/>
                <a:ea typeface="Noto Sans CJK JP"/>
                <a:cs typeface="Noto Sans CJK JP"/>
              </a:rPr>
              <a:t>  1. 背景の整理        2. 目的の整理         3. SNSの軸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E8ECF5"/>
                </a:solidFill>
                <a:latin typeface="Noto Sans CJK JP"/>
                <a:ea typeface="Noto Sans CJK JP"/>
                <a:cs typeface="Noto Sans CJK JP"/>
              </a:rPr>
              <a:t>  4. 投稿テーマ案10個   5. 30秒リール台本      6. Instagram投稿文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E8ECF5"/>
                </a:solidFill>
                <a:latin typeface="Noto Sans CJK JP"/>
                <a:ea typeface="Noto Sans CJK JP"/>
                <a:cs typeface="Noto Sans CJK JP"/>
              </a:rPr>
              <a:t>  7. Threads投稿文     8. YouTube企画案       9. 画像・動画素材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E8ECF5"/>
                </a:solidFill>
                <a:latin typeface="Noto Sans CJK JP"/>
                <a:ea typeface="Noto Sans CJK JP"/>
                <a:cs typeface="Noto Sans CJK JP"/>
              </a:rPr>
              <a:t> 10. AIで自動化できそうな業務        11. 今日からやるべき一歩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21</a:t>
            </a:r>
            <a:r>
              <a:rPr sz="130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  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アンケート ─ 聞いて終わりにしない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392" y="1783080"/>
            <a:ext cx="1005840" cy="45720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704088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7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ご協力いただいた方へ、後日メールで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7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「恩送り AI実践プロンプト集」をお送りします。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7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11年間のJCライフの学びを、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7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会社経営・JC活動で使える形にまとめた資料です。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339328" y="2029968"/>
            <a:ext cx="3118104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4A2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qr_surv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2286000"/>
            <a:ext cx="2606040" cy="2606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39328" y="4910328"/>
            <a:ext cx="31181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4213D"/>
                </a:solidFill>
                <a:latin typeface="Noto Sans CJK JP"/>
                <a:ea typeface="Noto Sans CJK JP"/>
                <a:cs typeface="Noto Sans CJK JP"/>
              </a:rPr>
              <a:t>アンケート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QRから回答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89320"/>
            <a:ext cx="7040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※ QRは仮URL。実フォーム作成後に差し替えます。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22</a:t>
            </a:r>
            <a:r>
              <a:rPr sz="130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   SURVEY ITEMS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アンケート項目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392" y="1783080"/>
            <a:ext cx="1005840" cy="45720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5074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304288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4213D"/>
                </a:solidFill>
                <a:latin typeface="Noto Sans CJK JP"/>
                <a:ea typeface="Noto Sans CJK JP"/>
                <a:cs typeface="Noto Sans CJK JP"/>
              </a:rPr>
              <a:t>基本・整理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2761487"/>
            <a:ext cx="640080" cy="36576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2944368"/>
            <a:ext cx="4489704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お名前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メールアドレス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会社名・所属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今日の「やりたいこと」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目的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103120"/>
            <a:ext cx="5074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304288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4213D"/>
                </a:solidFill>
                <a:latin typeface="Noto Sans CJK JP"/>
                <a:ea typeface="Noto Sans CJK JP"/>
                <a:cs typeface="Noto Sans CJK JP"/>
              </a:rPr>
              <a:t>対象・関心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56248" y="2761487"/>
            <a:ext cx="640080" cy="36576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2944368"/>
            <a:ext cx="4489704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誰に届けたいか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何につなげたいか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一番興味を持ったテーマ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今後学びたいテーマ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個別相談に興味があるか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感想・質問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5806440"/>
            <a:ext cx="10469880" cy="65836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5806440"/>
            <a:ext cx="9966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メール欄：後日「恩送り AI実践プロンプト集」送付に使用。本セミナー関連の案内以外には使用しません。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23</a:t>
            </a:r>
            <a:r>
              <a:rPr sz="130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   GIFT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恩送り AI実践プロンプト集（後日送付）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392" y="1783080"/>
            <a:ext cx="1005840" cy="45720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5074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304288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4213D"/>
                </a:solidFill>
                <a:latin typeface="Noto Sans CJK JP"/>
                <a:ea typeface="Noto Sans CJK JP"/>
                <a:cs typeface="Noto Sans CJK JP"/>
              </a:rPr>
              <a:t>JC向け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2761487"/>
            <a:ext cx="640080" cy="36576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2944368"/>
            <a:ext cx="4489704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JC事業整理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例会告知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協賛依頼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議事録整理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45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MCP・自動化の入口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103120"/>
            <a:ext cx="5074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304288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4213D"/>
                </a:solidFill>
                <a:latin typeface="Noto Sans CJK JP"/>
                <a:ea typeface="Noto Sans CJK JP"/>
                <a:cs typeface="Noto Sans CJK JP"/>
              </a:rPr>
              <a:t>経営・発信向け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56248" y="2761487"/>
            <a:ext cx="640080" cy="36576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2944368"/>
            <a:ext cx="4489704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3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SNS投稿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3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会社紹介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3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採用投稿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3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YouTube台本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3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ラジオ配信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3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note記事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3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動画制作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3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画像生成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・ </a:t>
            </a:r>
            <a:r>
              <a:rPr sz="1300" b="0">
                <a:solidFill>
                  <a:srgbClr val="202A44"/>
                </a:solidFill>
                <a:latin typeface="Noto Sans CJK JP"/>
                <a:ea typeface="Noto Sans CJK JP"/>
                <a:cs typeface="Noto Sans CJK JP"/>
              </a:rPr>
              <a:t>業務ツール作成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5806440"/>
            <a:ext cx="10469880" cy="65836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5806440"/>
            <a:ext cx="9966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全部使わなくていい。まず一つ使えば、今日の時間は必ず意味がある。これは私からの恩送りです。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172B"/>
              </a:gs>
              <a:gs pos="100000">
                <a:srgbClr val="14213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286000"/>
            <a:ext cx="822960" cy="54864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E7C98C"/>
                </a:solidFill>
                <a:latin typeface="Noto Sans CJK JP"/>
                <a:ea typeface="Noto Sans CJK JP"/>
                <a:cs typeface="Noto Sans CJK JP"/>
              </a:rPr>
              <a:t>最後に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51760"/>
            <a:ext cx="10607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Noto Serif CJK JP"/>
                <a:ea typeface="Noto Serif CJK JP"/>
                <a:cs typeface="Noto Serif CJK JP"/>
              </a:rPr>
              <a:t>AIを働かせて、人間は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Noto Serif CJK JP"/>
                <a:ea typeface="Noto Serif CJK JP"/>
                <a:cs typeface="Noto Serif CJK JP"/>
              </a:rPr>
              <a:t>もっと人間らしい仕事をする。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09159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CFD6E6"/>
                </a:solidFill>
                <a:latin typeface="Noto Sans CJK JP"/>
                <a:ea typeface="Noto Sans CJK JP"/>
                <a:cs typeface="Noto Sans CJK JP"/>
              </a:rPr>
              <a:t>AIにはできないことがある。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CFD6E6"/>
                </a:solidFill>
                <a:latin typeface="Noto Sans CJK JP"/>
                <a:ea typeface="Noto Sans CJK JP"/>
                <a:cs typeface="Noto Sans CJK JP"/>
              </a:rPr>
              <a:t>人の痛みに寄り添う。地域の未来を本気で考える。仲間と汗をかく。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CFD6E6"/>
                </a:solidFill>
                <a:latin typeface="Noto Sans CJK JP"/>
                <a:ea typeface="Noto Sans CJK JP"/>
                <a:cs typeface="Noto Sans CJK JP"/>
              </a:rPr>
              <a:t>自分の人生をかけて、想いを届ける。── これは、人間にしかできない。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08076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D4A24C"/>
                </a:solidFill>
                <a:latin typeface="Noto Sans CJK JP"/>
                <a:ea typeface="Noto Sans CJK JP"/>
                <a:cs typeface="Noto Sans CJK JP"/>
              </a:rPr>
              <a:t>本日は、ありがとうございました。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rP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